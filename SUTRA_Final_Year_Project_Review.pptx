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0" d="100"/>
          <a:sy n="70" d="100"/>
        </p:scale>
        <p:origin x="714"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9/17/2026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9/17/2026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1F6FB"/>
        </a:solidFill>
        <a:effectLst/>
      </p:bgPr>
    </p:bg>
    <p:spTree>
      <p:nvGrpSpPr>
        <p:cNvPr id="1" name=""/>
        <p:cNvGrpSpPr/>
        <p:nvPr/>
      </p:nvGrpSpPr>
      <p:grpSpPr>
        <a:xfrm>
          <a:off x="0" y="0"/>
          <a:ext cx="0" cy="0"/>
          <a:chOff x="0" y="0"/>
          <a:chExt cx="0" cy="0"/>
        </a:xfrm>
      </p:grpSpPr>
      <p:sp>
        <p:nvSpPr>
          <p:cNvPr id="2" name="Rectangle 1"/>
          <p:cNvSpPr/>
          <p:nvPr/>
        </p:nvSpPr>
        <p:spPr>
          <a:xfrm>
            <a:off x="0" y="0"/>
            <a:ext cx="3794760" cy="6858000"/>
          </a:xfrm>
          <a:prstGeom prst="rect">
            <a:avLst/>
          </a:prstGeom>
          <a:solidFill>
            <a:srgbClr val="122A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43400" y="530624"/>
            <a:ext cx="7586002" cy="984885"/>
          </a:xfrm>
          <a:prstGeom prst="rect">
            <a:avLst/>
          </a:prstGeom>
          <a:noFill/>
        </p:spPr>
        <p:txBody>
          <a:bodyPr wrap="square">
            <a:spAutoFit/>
          </a:bodyPr>
          <a:lstStyle/>
          <a:p>
            <a:pPr>
              <a:defRPr sz="3400" b="1">
                <a:solidFill>
                  <a:srgbClr val="122A4C"/>
                </a:solidFill>
                <a:latin typeface="Aptos Display"/>
              </a:defRPr>
            </a:pPr>
            <a:r>
              <a:rPr lang="en-US" sz="2400" dirty="0" smtClean="0" b="1" i="0">
                <a:solidFill>
                  <a:srgbClr val="122A4C"/>
                </a:solidFill>
                <a:latin typeface="Calibri"/>
              </a:rPr>
              <a:t>Department of Electrical &amp; Computer Engineering </a:t>
            </a:r>
          </a:p>
          <a:p>
            <a:pPr algn="ctr">
              <a:defRPr sz="3400" b="1">
                <a:solidFill>
                  <a:srgbClr val="122A4C"/>
                </a:solidFill>
                <a:latin typeface="Aptos Display"/>
              </a:defRPr>
            </a:pPr>
            <a:r>
              <a:rPr dirty="0" smtClean="0" sz="3400" b="1" i="0">
                <a:solidFill>
                  <a:srgbClr val="122A4C"/>
                </a:solidFill>
                <a:latin typeface="Calibri"/>
              </a:rPr>
              <a:t>FINAL </a:t>
            </a:r>
            <a:r>
              <a:rPr dirty="0" sz="3400" b="1" i="0">
                <a:solidFill>
                  <a:srgbClr val="122A4C"/>
                </a:solidFill>
                <a:latin typeface="Calibri"/>
              </a:rPr>
              <a:t>YEAR </a:t>
            </a:r>
            <a:r>
              <a:rPr dirty="0" smtClean="0" sz="3400" b="1" i="0">
                <a:solidFill>
                  <a:srgbClr val="122A4C"/>
                </a:solidFill>
                <a:latin typeface="Calibri"/>
              </a:rPr>
              <a:t>PROJECT</a:t>
            </a:r>
            <a:endParaRPr dirty="0"/>
          </a:p>
        </p:txBody>
      </p:sp>
      <p:pic>
        <p:nvPicPr>
          <p:cNvPr id="1028" name="Picture 4" descr="ABES Engineering College for B.Tech, M.Tech, MCA in Delhi, NC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850" y="2248669"/>
            <a:ext cx="3565339" cy="1546091"/>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 name="Table 5"/>
          <p:cNvGraphicFramePr>
            <a:graphicFrameLocks noGrp="1"/>
          </p:cNvGraphicFramePr>
          <p:nvPr>
            <p:extLst>
              <p:ext uri="{D42A27DB-BD31-4B8C-83A1-F6EECF244321}">
                <p14:modId xmlns:p14="http://schemas.microsoft.com/office/powerpoint/2010/main" val="4259584735"/>
              </p:ext>
            </p:extLst>
          </p:nvPr>
        </p:nvGraphicFramePr>
        <p:xfrm>
          <a:off x="4343400" y="3703320"/>
          <a:ext cx="7223760" cy="1920240"/>
        </p:xfrm>
        <a:graphic>
          <a:graphicData uri="http://schemas.openxmlformats.org/drawingml/2006/table">
            <a:tbl>
              <a:tblPr firstRow="1" bandRow="1">
                <a:tableStyleId>{5940675A-B579-460E-94D1-54222C63F5DA}</a:tableStyleId>
              </a:tblPr>
              <a:tblGrid>
                <a:gridCol w="822960"/>
                <a:gridCol w="2468880"/>
                <a:gridCol w="3931920"/>
              </a:tblGrid>
              <a:tr h="384048">
                <a:tc>
                  <a:txBody>
                    <a:bodyPr/>
                    <a:lstStyle/>
                    <a:p>
                      <a:r>
                        <a:rPr sz="1500" b="1" i="0">
                          <a:solidFill>
                            <a:srgbClr val="FFFFFF"/>
                          </a:solidFill>
                          <a:latin typeface="Calibri"/>
                        </a:rPr>
                        <a:t>S.No</a:t>
                      </a:r>
                    </a:p>
                  </a:txBody>
                  <a:tcPr>
                    <a:solidFill>
                      <a:srgbClr val="122A4C"/>
                    </a:solidFill>
                  </a:tcPr>
                </a:tc>
                <a:tc>
                  <a:txBody>
                    <a:bodyPr/>
                    <a:lstStyle/>
                    <a:p>
                      <a:r>
                        <a:rPr sz="1500" b="1" i="0">
                          <a:solidFill>
                            <a:srgbClr val="FFFFFF"/>
                          </a:solidFill>
                          <a:latin typeface="Calibri"/>
                        </a:rPr>
                        <a:t>Roll No</a:t>
                      </a:r>
                    </a:p>
                  </a:txBody>
                  <a:tcPr>
                    <a:solidFill>
                      <a:srgbClr val="122A4C"/>
                    </a:solidFill>
                  </a:tcPr>
                </a:tc>
                <a:tc>
                  <a:txBody>
                    <a:bodyPr/>
                    <a:lstStyle/>
                    <a:p>
                      <a:r>
                        <a:rPr sz="1500" b="1" i="0">
                          <a:solidFill>
                            <a:srgbClr val="FFFFFF"/>
                          </a:solidFill>
                          <a:latin typeface="Calibri"/>
                        </a:rPr>
                        <a:t>Name</a:t>
                      </a:r>
                    </a:p>
                  </a:txBody>
                  <a:tcPr>
                    <a:solidFill>
                      <a:srgbClr val="122A4C"/>
                    </a:solidFill>
                  </a:tcPr>
                </a:tc>
              </a:tr>
              <a:tr h="384048">
                <a:tc>
                  <a:txBody>
                    <a:bodyPr/>
                    <a:lstStyle/>
                    <a:p>
                      <a:r>
                        <a:rPr sz="1500" b="0" i="0">
                          <a:solidFill>
                            <a:srgbClr val="1E2328"/>
                          </a:solidFill>
                          <a:latin typeface="Calibri"/>
                        </a:rPr>
                        <a:t>1</a:t>
                      </a:r>
                    </a:p>
                  </a:txBody>
                  <a:tcPr>
                    <a:solidFill>
                      <a:srgbClr val="FFFFFF"/>
                    </a:solidFill>
                  </a:tcPr>
                </a:tc>
                <a:tc>
                  <a:txBody>
                    <a:bodyPr/>
                    <a:lstStyle/>
                    <a:p>
                      <a:r>
                        <a:rPr sz="1500" b="0" i="0">
                          <a:solidFill>
                            <a:srgbClr val="1E2328"/>
                          </a:solidFill>
                          <a:latin typeface="Calibri"/>
                        </a:rPr>
                        <a:t/>
                      </a:r>
                    </a:p>
                  </a:txBody>
                  <a:tcPr>
                    <a:solidFill>
                      <a:srgbClr val="FFFFFF"/>
                    </a:solidFill>
                  </a:tcPr>
                </a:tc>
                <a:tc>
                  <a:txBody>
                    <a:bodyPr/>
                    <a:lstStyle/>
                    <a:p>
                      <a:r>
                        <a:rPr sz="1500" b="0" i="0">
                          <a:solidFill>
                            <a:srgbClr val="1E2328"/>
                          </a:solidFill>
                          <a:latin typeface="Calibri"/>
                        </a:rPr>
                        <a:t>Sarvesh Kumar Yadav</a:t>
                      </a:r>
                    </a:p>
                  </a:txBody>
                  <a:tcPr>
                    <a:solidFill>
                      <a:srgbClr val="FFFFFF"/>
                    </a:solidFill>
                  </a:tcPr>
                </a:tc>
              </a:tr>
              <a:tr h="384048">
                <a:tc>
                  <a:txBody>
                    <a:bodyPr/>
                    <a:lstStyle/>
                    <a:p>
                      <a:r>
                        <a:rPr sz="1500" b="0" i="0">
                          <a:solidFill>
                            <a:srgbClr val="1E2328"/>
                          </a:solidFill>
                          <a:latin typeface="Calibri"/>
                        </a:rPr>
                        <a:t/>
                      </a:r>
                    </a:p>
                  </a:txBody>
                  <a:tcPr>
                    <a:solidFill>
                      <a:srgbClr val="FFFFFF"/>
                    </a:solidFill>
                  </a:tcPr>
                </a:tc>
                <a:tc>
                  <a:txBody>
                    <a:bodyPr/>
                    <a:lstStyle/>
                    <a:p>
                      <a:r>
                        <a:rPr sz="1500" b="0" i="0">
                          <a:solidFill>
                            <a:srgbClr val="1E2328"/>
                          </a:solidFill>
                          <a:latin typeface="Calibri"/>
                        </a:rPr>
                        <a:t/>
                      </a:r>
                    </a:p>
                  </a:txBody>
                  <a:tcPr>
                    <a:solidFill>
                      <a:srgbClr val="FFFFFF"/>
                    </a:solidFill>
                  </a:tcPr>
                </a:tc>
                <a:tc>
                  <a:txBody>
                    <a:bodyPr/>
                    <a:lstStyle/>
                    <a:p>
                      <a:r>
                        <a:rPr sz="1500" b="0" i="0">
                          <a:solidFill>
                            <a:srgbClr val="1E2328"/>
                          </a:solidFill>
                          <a:latin typeface="Calibri"/>
                        </a:rPr>
                        <a:t/>
                      </a:r>
                    </a:p>
                  </a:txBody>
                  <a:tcPr>
                    <a:solidFill>
                      <a:srgbClr val="FFFFFF"/>
                    </a:solidFill>
                  </a:tcPr>
                </a:tc>
              </a:tr>
              <a:tr h="384048">
                <a:tc>
                  <a:txBody>
                    <a:bodyPr/>
                    <a:lstStyle/>
                    <a:p>
                      <a:r>
                        <a:rPr sz="1500" b="0" i="0">
                          <a:solidFill>
                            <a:srgbClr val="1E2328"/>
                          </a:solidFill>
                          <a:latin typeface="Calibri"/>
                        </a:rPr>
                        <a:t/>
                      </a:r>
                    </a:p>
                  </a:txBody>
                  <a:tcPr>
                    <a:solidFill>
                      <a:srgbClr val="FFFFFF"/>
                    </a:solidFill>
                  </a:tcPr>
                </a:tc>
                <a:tc>
                  <a:txBody>
                    <a:bodyPr/>
                    <a:lstStyle/>
                    <a:p>
                      <a:r>
                        <a:rPr sz="1500" b="0" i="0">
                          <a:solidFill>
                            <a:srgbClr val="1E2328"/>
                          </a:solidFill>
                          <a:latin typeface="Calibri"/>
                        </a:rPr>
                        <a:t/>
                      </a:r>
                    </a:p>
                  </a:txBody>
                  <a:tcPr>
                    <a:solidFill>
                      <a:srgbClr val="FFFFFF"/>
                    </a:solidFill>
                  </a:tcPr>
                </a:tc>
                <a:tc>
                  <a:txBody>
                    <a:bodyPr/>
                    <a:lstStyle/>
                    <a:p>
                      <a:r>
                        <a:rPr sz="1500" b="0" i="0">
                          <a:solidFill>
                            <a:srgbClr val="1E2328"/>
                          </a:solidFill>
                          <a:latin typeface="Calibri"/>
                        </a:rPr>
                        <a:t/>
                      </a:r>
                    </a:p>
                  </a:txBody>
                  <a:tcPr>
                    <a:solidFill>
                      <a:srgbClr val="FFFFFF"/>
                    </a:solidFill>
                  </a:tcPr>
                </a:tc>
              </a:tr>
              <a:tr h="384048">
                <a:tc>
                  <a:txBody>
                    <a:bodyPr/>
                    <a:lstStyle/>
                    <a:p>
                      <a:r>
                        <a:rPr sz="1500" b="0" i="0">
                          <a:solidFill>
                            <a:srgbClr val="1E2328"/>
                          </a:solidFill>
                          <a:latin typeface="Calibri"/>
                        </a:rPr>
                        <a:t/>
                      </a:r>
                    </a:p>
                  </a:txBody>
                  <a:tcPr>
                    <a:solidFill>
                      <a:srgbClr val="FFFFFF"/>
                    </a:solidFill>
                  </a:tcPr>
                </a:tc>
                <a:tc>
                  <a:txBody>
                    <a:bodyPr/>
                    <a:lstStyle/>
                    <a:p>
                      <a:r>
                        <a:rPr sz="1500" b="0" i="0">
                          <a:solidFill>
                            <a:srgbClr val="1E2328"/>
                          </a:solidFill>
                          <a:latin typeface="Calibri"/>
                        </a:rPr>
                        <a:t/>
                      </a:r>
                    </a:p>
                  </a:txBody>
                  <a:tcPr>
                    <a:solidFill>
                      <a:srgbClr val="FFFFFF"/>
                    </a:solidFill>
                  </a:tcPr>
                </a:tc>
                <a:tc>
                  <a:txBody>
                    <a:bodyPr/>
                    <a:lstStyle/>
                    <a:p>
                      <a:r>
                        <a:rPr sz="1500" b="0" i="0">
                          <a:solidFill>
                            <a:srgbClr val="1E2328"/>
                          </a:solidFill>
                          <a:latin typeface="Calibri"/>
                        </a:rPr>
                        <a:t/>
                      </a:r>
                    </a:p>
                  </a:txBody>
                  <a:tcPr>
                    <a:solidFill>
                      <a:srgbClr val="FFFFFF"/>
                    </a:solidFill>
                  </a:tcPr>
                </a:tc>
              </a:tr>
            </a:tbl>
          </a:graphicData>
        </a:graphic>
      </p:graphicFrame>
      <p:sp>
        <p:nvSpPr>
          <p:cNvPr id="1029" name="TextBox 1028"/>
          <p:cNvSpPr txBox="1"/>
          <p:nvPr/>
        </p:nvSpPr>
        <p:spPr>
          <a:xfrm>
            <a:off x="4343400" y="1874519"/>
            <a:ext cx="7498079" cy="1371600"/>
          </a:xfrm>
          <a:prstGeom prst="rect">
            <a:avLst/>
          </a:prstGeom>
          <a:noFill/>
        </p:spPr>
        <p:txBody>
          <a:bodyPr wrap="square" anchor="t" lIns="0" rIns="0" tIns="0" bIns="0">
            <a:spAutoFit/>
          </a:bodyPr>
          <a:lstStyle/>
          <a:p>
            <a:pPr algn="l">
              <a:spcAft>
                <a:spcPts val="400"/>
              </a:spcAft>
            </a:pPr>
            <a:r>
              <a:rPr sz="1800" b="1" i="0">
                <a:solidFill>
                  <a:srgbClr val="122A4C"/>
                </a:solidFill>
                <a:latin typeface="Calibri"/>
              </a:rPr>
              <a:t>Project Title: </a:t>
            </a:r>
          </a:p>
          <a:p>
            <a:pPr algn="l"/>
            <a:r>
              <a:rPr sz="2200" b="1" i="0">
                <a:solidFill>
                  <a:srgbClr val="2463A0"/>
                </a:solidFill>
                <a:latin typeface="Calibri"/>
              </a:rPr>
              <a:t>SUTRA: Real-Time Vehicle Telemetry and Emergency Corridor Management System</a:t>
            </a:r>
          </a:p>
        </p:txBody>
      </p:sp>
      <p:sp>
        <p:nvSpPr>
          <p:cNvPr id="1030" name="TextBox 1029"/>
          <p:cNvSpPr txBox="1"/>
          <p:nvPr/>
        </p:nvSpPr>
        <p:spPr>
          <a:xfrm>
            <a:off x="4343400" y="3291840"/>
            <a:ext cx="7498079" cy="365760"/>
          </a:xfrm>
          <a:prstGeom prst="rect">
            <a:avLst/>
          </a:prstGeom>
          <a:noFill/>
        </p:spPr>
        <p:txBody>
          <a:bodyPr wrap="square" anchor="t" lIns="0" rIns="0" tIns="0" bIns="0">
            <a:spAutoFit/>
          </a:bodyPr>
          <a:lstStyle/>
          <a:p>
            <a:pPr algn="l"/>
            <a:r>
              <a:rPr sz="1800" b="1" i="0">
                <a:solidFill>
                  <a:srgbClr val="122A4C"/>
                </a:solidFill>
                <a:latin typeface="Calibri"/>
              </a:rPr>
              <a:t>Team Members (Name / Roll No):</a:t>
            </a:r>
          </a:p>
        </p:txBody>
      </p:sp>
      <p:sp>
        <p:nvSpPr>
          <p:cNvPr id="1031" name="TextBox 1030"/>
          <p:cNvSpPr txBox="1"/>
          <p:nvPr/>
        </p:nvSpPr>
        <p:spPr>
          <a:xfrm>
            <a:off x="4343400" y="5806440"/>
            <a:ext cx="7498079" cy="457200"/>
          </a:xfrm>
          <a:prstGeom prst="rect">
            <a:avLst/>
          </a:prstGeom>
          <a:noFill/>
        </p:spPr>
        <p:txBody>
          <a:bodyPr wrap="square" anchor="t" lIns="0" rIns="0" tIns="0" bIns="0">
            <a:spAutoFit/>
          </a:bodyPr>
          <a:lstStyle/>
          <a:p>
            <a:pPr algn="l"/>
            <a:r>
              <a:rPr sz="1800" b="1" i="0">
                <a:solidFill>
                  <a:srgbClr val="122A4C"/>
                </a:solidFill>
                <a:latin typeface="Calibri"/>
              </a:rPr>
              <a:t>Project Guide with Designation: </a:t>
            </a:r>
            <a:r>
              <a:rPr sz="1800" b="0" i="0">
                <a:solidFill>
                  <a:srgbClr val="1E2328"/>
                </a:solidFill>
                <a:latin typeface="Calibri"/>
              </a:rPr>
              <a:t>_________________________________</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46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74320"/>
            <a:ext cx="11000232" cy="640080"/>
          </a:xfrm>
          <a:prstGeom prst="rect">
            <a:avLst/>
          </a:prstGeom>
          <a:noFill/>
        </p:spPr>
        <p:txBody>
          <a:bodyPr wrap="square"/>
          <a:lstStyle/>
          <a:p>
            <a:pPr algn="ctr">
              <a:defRPr sz="2700" b="1">
                <a:solidFill>
                  <a:srgbClr val="122A4C"/>
                </a:solidFill>
                <a:latin typeface="Aptos Display"/>
              </a:defRPr>
            </a:pPr>
            <a:r>
              <a:rPr sz="3000" b="1" i="0">
                <a:solidFill>
                  <a:srgbClr val="122A4C"/>
                </a:solidFill>
                <a:latin typeface="Calibri"/>
              </a:rPr>
              <a:t>Problem Statement</a:t>
            </a:r>
          </a:p>
        </p:txBody>
      </p:sp>
      <p:sp>
        <p:nvSpPr>
          <p:cNvPr id="4" name="TextBox 3"/>
          <p:cNvSpPr txBox="1"/>
          <p:nvPr/>
        </p:nvSpPr>
        <p:spPr>
          <a:xfrm>
            <a:off x="11155680" y="6309360"/>
            <a:ext cx="457200" cy="274320"/>
          </a:xfrm>
          <a:prstGeom prst="rect">
            <a:avLst/>
          </a:prstGeom>
          <a:noFill/>
        </p:spPr>
        <p:txBody>
          <a:bodyPr wrap="none"/>
          <a:lstStyle/>
          <a:p>
            <a:pPr algn="r">
              <a:defRPr sz="1000">
                <a:solidFill>
                  <a:srgbClr val="697887"/>
                </a:solidFill>
                <a:latin typeface="Aptos"/>
              </a:defRPr>
            </a:pPr>
            <a:r>
              <a:rPr sz="1000" b="0" i="0">
                <a:solidFill>
                  <a:srgbClr val="697887"/>
                </a:solidFill>
                <a:latin typeface="Calibri"/>
              </a:rPr>
              <a:t>2</a:t>
            </a:r>
          </a:p>
        </p:txBody>
      </p:sp>
      <p:sp>
        <p:nvSpPr>
          <p:cNvPr id="5" name="Rounded Rectangle 4"/>
          <p:cNvSpPr/>
          <p:nvPr/>
        </p:nvSpPr>
        <p:spPr>
          <a:xfrm>
            <a:off x="685800" y="1234440"/>
            <a:ext cx="1920240" cy="1234440"/>
          </a:xfrm>
          <a:prstGeom prst="roundRect">
            <a:avLst>
              <a:gd name="adj" fmla="val 8000"/>
            </a:avLst>
          </a:prstGeom>
          <a:solidFill>
            <a:srgbClr val="122A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2200" b="1" i="0">
                <a:solidFill>
                  <a:srgbClr val="FFFFFF"/>
                </a:solidFill>
                <a:latin typeface="Calibri"/>
              </a:rPr>
              <a:t>Problem</a:t>
            </a:r>
          </a:p>
        </p:txBody>
      </p:sp>
      <p:sp>
        <p:nvSpPr>
          <p:cNvPr id="6" name="Rounded Rectangle 5"/>
          <p:cNvSpPr/>
          <p:nvPr/>
        </p:nvSpPr>
        <p:spPr>
          <a:xfrm>
            <a:off x="2697480" y="1234440"/>
            <a:ext cx="8778240" cy="1234440"/>
          </a:xfrm>
          <a:prstGeom prst="roundRect">
            <a:avLst>
              <a:gd name="adj" fmla="val 8000"/>
            </a:avLst>
          </a:prstGeom>
          <a:solidFill>
            <a:srgbClr val="F1F6FB"/>
          </a:solidFill>
          <a:ln w="12700">
            <a:solidFill>
              <a:srgbClr val="D2DEE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73152" bIns="73152"/>
          <a:lstStyle/>
          <a:p>
            <a:pPr algn="l"/>
            <a:r>
              <a:rPr sz="1800" b="0" i="0">
                <a:solidFill>
                  <a:srgbClr val="1E2328"/>
                </a:solidFill>
                <a:latin typeface="Calibri"/>
              </a:rPr>
              <a:t>Emergency vehicles lose critical minutes in traffic, and fleet operators have no live, trustworthy view of where vehicles are, how they are driving, or which vehicle is entitled to emergency priority.</a:t>
            </a:r>
          </a:p>
        </p:txBody>
      </p:sp>
      <p:sp>
        <p:nvSpPr>
          <p:cNvPr id="7" name="Rounded Rectangle 6"/>
          <p:cNvSpPr/>
          <p:nvPr/>
        </p:nvSpPr>
        <p:spPr>
          <a:xfrm>
            <a:off x="685800" y="2697480"/>
            <a:ext cx="1920240" cy="1234440"/>
          </a:xfrm>
          <a:prstGeom prst="roundRect">
            <a:avLst>
              <a:gd name="adj" fmla="val 8000"/>
            </a:avLst>
          </a:prstGeom>
          <a:solidFill>
            <a:srgbClr val="122A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2200" b="1" i="0">
                <a:solidFill>
                  <a:srgbClr val="FFFFFF"/>
                </a:solidFill>
                <a:latin typeface="Calibri"/>
              </a:rPr>
              <a:t>Users</a:t>
            </a:r>
          </a:p>
        </p:txBody>
      </p:sp>
      <p:sp>
        <p:nvSpPr>
          <p:cNvPr id="8" name="Rounded Rectangle 7"/>
          <p:cNvSpPr/>
          <p:nvPr/>
        </p:nvSpPr>
        <p:spPr>
          <a:xfrm>
            <a:off x="2697480" y="2697480"/>
            <a:ext cx="8778240" cy="1234440"/>
          </a:xfrm>
          <a:prstGeom prst="roundRect">
            <a:avLst>
              <a:gd name="adj" fmla="val 8000"/>
            </a:avLst>
          </a:prstGeom>
          <a:solidFill>
            <a:srgbClr val="F1F6FB"/>
          </a:solidFill>
          <a:ln w="12700">
            <a:solidFill>
              <a:srgbClr val="D2DEE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73152" bIns="73152"/>
          <a:lstStyle/>
          <a:p>
            <a:pPr algn="l"/>
            <a:r>
              <a:rPr sz="1800" b="0" i="0">
                <a:solidFill>
                  <a:srgbClr val="1E2328"/>
                </a:solidFill>
                <a:latin typeface="Calibri"/>
              </a:rPr>
              <a:t>Fleet and traffic-control operators watching many vehicles, and drivers of ordinary and emergency-authorized vehicles who need alerts and a live map.</a:t>
            </a:r>
          </a:p>
        </p:txBody>
      </p:sp>
      <p:sp>
        <p:nvSpPr>
          <p:cNvPr id="9" name="Rounded Rectangle 8"/>
          <p:cNvSpPr/>
          <p:nvPr/>
        </p:nvSpPr>
        <p:spPr>
          <a:xfrm>
            <a:off x="685800" y="4160520"/>
            <a:ext cx="1920240" cy="1234440"/>
          </a:xfrm>
          <a:prstGeom prst="roundRect">
            <a:avLst>
              <a:gd name="adj" fmla="val 8000"/>
            </a:avLst>
          </a:prstGeom>
          <a:solidFill>
            <a:srgbClr val="122A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2200" b="1" i="0">
                <a:solidFill>
                  <a:srgbClr val="FFFFFF"/>
                </a:solidFill>
                <a:latin typeface="Calibri"/>
              </a:rPr>
              <a:t>Scope</a:t>
            </a:r>
          </a:p>
        </p:txBody>
      </p:sp>
      <p:sp>
        <p:nvSpPr>
          <p:cNvPr id="10" name="Rounded Rectangle 9"/>
          <p:cNvSpPr/>
          <p:nvPr/>
        </p:nvSpPr>
        <p:spPr>
          <a:xfrm>
            <a:off x="2697480" y="4160520"/>
            <a:ext cx="8778240" cy="1234440"/>
          </a:xfrm>
          <a:prstGeom prst="roundRect">
            <a:avLst>
              <a:gd name="adj" fmla="val 8000"/>
            </a:avLst>
          </a:prstGeom>
          <a:solidFill>
            <a:srgbClr val="F1F6FB"/>
          </a:solidFill>
          <a:ln w="12700">
            <a:solidFill>
              <a:srgbClr val="D2DEE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73152" bIns="73152"/>
          <a:lstStyle/>
          <a:p>
            <a:pPr algn="l"/>
            <a:r>
              <a:rPr sz="1800" b="0" i="0">
                <a:solidFill>
                  <a:srgbClr val="1E2328"/>
                </a:solidFill>
                <a:latin typeface="Calibri"/>
              </a:rPr>
              <a:t>A phone-based vehicle client, a role-scoped operator/driver web console and a Supabase backend for live tracking, alerts, violations and history. Vehicle hardware and traffic-signal integration are out of scope.</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46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74320"/>
            <a:ext cx="11000232" cy="640080"/>
          </a:xfrm>
          <a:prstGeom prst="rect">
            <a:avLst/>
          </a:prstGeom>
          <a:noFill/>
        </p:spPr>
        <p:txBody>
          <a:bodyPr wrap="square"/>
          <a:lstStyle/>
          <a:p>
            <a:pPr algn="ctr">
              <a:defRPr sz="2700" b="1">
                <a:solidFill>
                  <a:srgbClr val="122A4C"/>
                </a:solidFill>
                <a:latin typeface="Aptos Display"/>
              </a:defRPr>
            </a:pPr>
            <a:r>
              <a:rPr sz="3000" b="1" i="0">
                <a:solidFill>
                  <a:srgbClr val="122A4C"/>
                </a:solidFill>
                <a:latin typeface="Calibri"/>
              </a:rPr>
              <a:t>Motivation &amp; Need</a:t>
            </a:r>
          </a:p>
        </p:txBody>
      </p:sp>
      <p:sp>
        <p:nvSpPr>
          <p:cNvPr id="4" name="TextBox 3"/>
          <p:cNvSpPr txBox="1"/>
          <p:nvPr/>
        </p:nvSpPr>
        <p:spPr>
          <a:xfrm>
            <a:off x="11155680" y="6309360"/>
            <a:ext cx="457200" cy="274320"/>
          </a:xfrm>
          <a:prstGeom prst="rect">
            <a:avLst/>
          </a:prstGeom>
          <a:noFill/>
        </p:spPr>
        <p:txBody>
          <a:bodyPr wrap="none"/>
          <a:lstStyle/>
          <a:p>
            <a:pPr algn="r">
              <a:defRPr sz="1000">
                <a:solidFill>
                  <a:srgbClr val="697887"/>
                </a:solidFill>
                <a:latin typeface="Aptos"/>
              </a:defRPr>
            </a:pPr>
            <a:r>
              <a:rPr sz="1000" b="0" i="0">
                <a:solidFill>
                  <a:srgbClr val="697887"/>
                </a:solidFill>
                <a:latin typeface="Calibri"/>
              </a:rPr>
              <a:t>3</a:t>
            </a:r>
          </a:p>
        </p:txBody>
      </p:sp>
      <p:sp>
        <p:nvSpPr>
          <p:cNvPr id="5" name="Rounded Rectangle 4"/>
          <p:cNvSpPr/>
          <p:nvPr/>
        </p:nvSpPr>
        <p:spPr>
          <a:xfrm>
            <a:off x="685800" y="1371600"/>
            <a:ext cx="3520440" cy="4206240"/>
          </a:xfrm>
          <a:prstGeom prst="roundRect">
            <a:avLst>
              <a:gd name="adj" fmla="val 8000"/>
            </a:avLst>
          </a:prstGeom>
          <a:solidFill>
            <a:srgbClr val="F1F6FB"/>
          </a:solidFill>
          <a:ln w="12700">
            <a:solidFill>
              <a:srgbClr val="D2DE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60120" y="1645920"/>
            <a:ext cx="548640" cy="548640"/>
          </a:xfrm>
          <a:prstGeom prst="ellipse">
            <a:avLst/>
          </a:prstGeom>
          <a:solidFill>
            <a:srgbClr val="2463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FFFFFF"/>
                </a:solidFill>
                <a:latin typeface="Calibri"/>
              </a:rPr>
              <a:t>1</a:t>
            </a:r>
          </a:p>
        </p:txBody>
      </p:sp>
      <p:sp>
        <p:nvSpPr>
          <p:cNvPr id="7" name="TextBox 6"/>
          <p:cNvSpPr txBox="1"/>
          <p:nvPr/>
        </p:nvSpPr>
        <p:spPr>
          <a:xfrm>
            <a:off x="960120" y="2377440"/>
            <a:ext cx="3017520" cy="457200"/>
          </a:xfrm>
          <a:prstGeom prst="rect">
            <a:avLst/>
          </a:prstGeom>
          <a:noFill/>
        </p:spPr>
        <p:txBody>
          <a:bodyPr wrap="square" anchor="t" lIns="0" rIns="0" tIns="0" bIns="0">
            <a:spAutoFit/>
          </a:bodyPr>
          <a:lstStyle/>
          <a:p>
            <a:pPr algn="l"/>
            <a:r>
              <a:rPr sz="2400" b="1" i="0">
                <a:solidFill>
                  <a:srgbClr val="122A4C"/>
                </a:solidFill>
                <a:latin typeface="Calibri"/>
              </a:rPr>
              <a:t>Safety</a:t>
            </a:r>
          </a:p>
        </p:txBody>
      </p:sp>
      <p:sp>
        <p:nvSpPr>
          <p:cNvPr id="8" name="TextBox 7"/>
          <p:cNvSpPr txBox="1"/>
          <p:nvPr/>
        </p:nvSpPr>
        <p:spPr>
          <a:xfrm>
            <a:off x="960120" y="3017520"/>
            <a:ext cx="3017520" cy="2468880"/>
          </a:xfrm>
          <a:prstGeom prst="rect">
            <a:avLst/>
          </a:prstGeom>
          <a:noFill/>
        </p:spPr>
        <p:txBody>
          <a:bodyPr wrap="square" anchor="t" lIns="0" rIns="0" tIns="0" bIns="0">
            <a:spAutoFit/>
          </a:bodyPr>
          <a:lstStyle/>
          <a:p>
            <a:pPr algn="l"/>
            <a:r>
              <a:rPr sz="2000" b="0" i="0">
                <a:solidFill>
                  <a:srgbClr val="1E2328"/>
                </a:solidFill>
                <a:latin typeface="Calibri"/>
              </a:rPr>
              <a:t>Every minute an ambulance or fire engine spends in congestion counts. Priority should be granted to verified vehicles, and drivers must be warned in real time.</a:t>
            </a:r>
          </a:p>
        </p:txBody>
      </p:sp>
      <p:sp>
        <p:nvSpPr>
          <p:cNvPr id="9" name="Rounded Rectangle 8"/>
          <p:cNvSpPr/>
          <p:nvPr/>
        </p:nvSpPr>
        <p:spPr>
          <a:xfrm>
            <a:off x="4343400" y="1371600"/>
            <a:ext cx="3520440" cy="4206240"/>
          </a:xfrm>
          <a:prstGeom prst="roundRect">
            <a:avLst>
              <a:gd name="adj" fmla="val 8000"/>
            </a:avLst>
          </a:prstGeom>
          <a:solidFill>
            <a:srgbClr val="F1F6FB"/>
          </a:solidFill>
          <a:ln w="12700">
            <a:solidFill>
              <a:srgbClr val="D2DE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617720" y="1645920"/>
            <a:ext cx="548640" cy="548640"/>
          </a:xfrm>
          <a:prstGeom prst="ellipse">
            <a:avLst/>
          </a:prstGeom>
          <a:solidFill>
            <a:srgbClr val="2463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FFFFFF"/>
                </a:solidFill>
                <a:latin typeface="Calibri"/>
              </a:rPr>
              <a:t>2</a:t>
            </a:r>
          </a:p>
        </p:txBody>
      </p:sp>
      <p:sp>
        <p:nvSpPr>
          <p:cNvPr id="11" name="TextBox 10"/>
          <p:cNvSpPr txBox="1"/>
          <p:nvPr/>
        </p:nvSpPr>
        <p:spPr>
          <a:xfrm>
            <a:off x="4617720" y="2377440"/>
            <a:ext cx="3017520" cy="457200"/>
          </a:xfrm>
          <a:prstGeom prst="rect">
            <a:avLst/>
          </a:prstGeom>
          <a:noFill/>
        </p:spPr>
        <p:txBody>
          <a:bodyPr wrap="square" anchor="t" lIns="0" rIns="0" tIns="0" bIns="0">
            <a:spAutoFit/>
          </a:bodyPr>
          <a:lstStyle/>
          <a:p>
            <a:pPr algn="l"/>
            <a:r>
              <a:rPr sz="2400" b="1" i="0">
                <a:solidFill>
                  <a:srgbClr val="122A4C"/>
                </a:solidFill>
                <a:latin typeface="Calibri"/>
              </a:rPr>
              <a:t>Visibility</a:t>
            </a:r>
          </a:p>
        </p:txBody>
      </p:sp>
      <p:sp>
        <p:nvSpPr>
          <p:cNvPr id="12" name="TextBox 11"/>
          <p:cNvSpPr txBox="1"/>
          <p:nvPr/>
        </p:nvSpPr>
        <p:spPr>
          <a:xfrm>
            <a:off x="4617720" y="3017520"/>
            <a:ext cx="3017520" cy="2468880"/>
          </a:xfrm>
          <a:prstGeom prst="rect">
            <a:avLst/>
          </a:prstGeom>
          <a:noFill/>
        </p:spPr>
        <p:txBody>
          <a:bodyPr wrap="square" anchor="t" lIns="0" rIns="0" tIns="0" bIns="0">
            <a:spAutoFit/>
          </a:bodyPr>
          <a:lstStyle/>
          <a:p>
            <a:pPr algn="l"/>
            <a:r>
              <a:rPr sz="2000" b="0" i="0">
                <a:solidFill>
                  <a:srgbClr val="1E2328"/>
                </a:solidFill>
                <a:latin typeface="Calibri"/>
              </a:rPr>
              <a:t>Operators need one live map of the whole fleet plus a record of where and when rules such as speed limits were broken, not scattered logs.</a:t>
            </a:r>
          </a:p>
        </p:txBody>
      </p:sp>
      <p:sp>
        <p:nvSpPr>
          <p:cNvPr id="13" name="Rounded Rectangle 12"/>
          <p:cNvSpPr/>
          <p:nvPr/>
        </p:nvSpPr>
        <p:spPr>
          <a:xfrm>
            <a:off x="8001000" y="1371600"/>
            <a:ext cx="3520440" cy="4206240"/>
          </a:xfrm>
          <a:prstGeom prst="roundRect">
            <a:avLst>
              <a:gd name="adj" fmla="val 8000"/>
            </a:avLst>
          </a:prstGeom>
          <a:solidFill>
            <a:srgbClr val="F1F6FB"/>
          </a:solidFill>
          <a:ln w="12700">
            <a:solidFill>
              <a:srgbClr val="D2DE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275320" y="1645920"/>
            <a:ext cx="548640" cy="548640"/>
          </a:xfrm>
          <a:prstGeom prst="ellipse">
            <a:avLst/>
          </a:prstGeom>
          <a:solidFill>
            <a:srgbClr val="2463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FFFFFF"/>
                </a:solidFill>
                <a:latin typeface="Calibri"/>
              </a:rPr>
              <a:t>3</a:t>
            </a:r>
          </a:p>
        </p:txBody>
      </p:sp>
      <p:sp>
        <p:nvSpPr>
          <p:cNvPr id="15" name="TextBox 14"/>
          <p:cNvSpPr txBox="1"/>
          <p:nvPr/>
        </p:nvSpPr>
        <p:spPr>
          <a:xfrm>
            <a:off x="8275320" y="2377440"/>
            <a:ext cx="3017520" cy="457200"/>
          </a:xfrm>
          <a:prstGeom prst="rect">
            <a:avLst/>
          </a:prstGeom>
          <a:noFill/>
        </p:spPr>
        <p:txBody>
          <a:bodyPr wrap="square" anchor="t" lIns="0" rIns="0" tIns="0" bIns="0">
            <a:spAutoFit/>
          </a:bodyPr>
          <a:lstStyle/>
          <a:p>
            <a:pPr algn="l"/>
            <a:r>
              <a:rPr sz="2400" b="1" i="0">
                <a:solidFill>
                  <a:srgbClr val="122A4C"/>
                </a:solidFill>
                <a:latin typeface="Calibri"/>
              </a:rPr>
              <a:t>Trust &amp; cost</a:t>
            </a:r>
          </a:p>
        </p:txBody>
      </p:sp>
      <p:sp>
        <p:nvSpPr>
          <p:cNvPr id="16" name="TextBox 15"/>
          <p:cNvSpPr txBox="1"/>
          <p:nvPr/>
        </p:nvSpPr>
        <p:spPr>
          <a:xfrm>
            <a:off x="8275320" y="3017520"/>
            <a:ext cx="3017520" cy="2468880"/>
          </a:xfrm>
          <a:prstGeom prst="rect">
            <a:avLst/>
          </a:prstGeom>
          <a:noFill/>
        </p:spPr>
        <p:txBody>
          <a:bodyPr wrap="square" anchor="t" lIns="0" rIns="0" tIns="0" bIns="0">
            <a:spAutoFit/>
          </a:bodyPr>
          <a:lstStyle/>
          <a:p>
            <a:pPr algn="l"/>
            <a:r>
              <a:rPr sz="2000" b="0" i="0">
                <a:solidFill>
                  <a:srgbClr val="1E2328"/>
                </a:solidFill>
                <a:latin typeface="Calibri"/>
              </a:rPr>
              <a:t>Emergency privilege must not be something a driver's app can claim, and a fleet tool should not depend on paid map-API keys.</a:t>
            </a:r>
          </a:p>
        </p:txBody>
      </p:sp>
      <p:sp>
        <p:nvSpPr>
          <p:cNvPr id="17" name="TextBox 16"/>
          <p:cNvSpPr txBox="1"/>
          <p:nvPr/>
        </p:nvSpPr>
        <p:spPr>
          <a:xfrm>
            <a:off x="685800" y="5760720"/>
            <a:ext cx="10789920" cy="365760"/>
          </a:xfrm>
          <a:prstGeom prst="rect">
            <a:avLst/>
          </a:prstGeom>
          <a:noFill/>
        </p:spPr>
        <p:txBody>
          <a:bodyPr wrap="square" anchor="t" lIns="0" rIns="0" tIns="0" bIns="0">
            <a:spAutoFit/>
          </a:bodyPr>
          <a:lstStyle/>
          <a:p>
            <a:pPr algn="l"/>
            <a:r>
              <a:rPr sz="1600" b="0" i="1">
                <a:solidFill>
                  <a:srgbClr val="697887"/>
                </a:solidFill>
                <a:latin typeface="Calibri"/>
              </a:rPr>
              <a:t>Need addressed: reliable emergency-vehicle tracking and accountable fleet supervision using open, low-cost technology.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46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74320"/>
            <a:ext cx="11000232" cy="640080"/>
          </a:xfrm>
          <a:prstGeom prst="rect">
            <a:avLst/>
          </a:prstGeom>
          <a:noFill/>
        </p:spPr>
        <p:txBody>
          <a:bodyPr wrap="square"/>
          <a:lstStyle/>
          <a:p>
            <a:pPr algn="ctr">
              <a:defRPr sz="2700" b="1">
                <a:solidFill>
                  <a:srgbClr val="122A4C"/>
                </a:solidFill>
                <a:latin typeface="Aptos Display"/>
              </a:defRPr>
            </a:pPr>
            <a:r>
              <a:rPr sz="3000" b="1" i="0">
                <a:solidFill>
                  <a:srgbClr val="122A4C"/>
                </a:solidFill>
                <a:latin typeface="Calibri"/>
              </a:rPr>
              <a:t>Project Objectives</a:t>
            </a:r>
          </a:p>
        </p:txBody>
      </p:sp>
      <p:sp>
        <p:nvSpPr>
          <p:cNvPr id="4" name="TextBox 3"/>
          <p:cNvSpPr txBox="1"/>
          <p:nvPr/>
        </p:nvSpPr>
        <p:spPr>
          <a:xfrm>
            <a:off x="11155680" y="6309360"/>
            <a:ext cx="457200" cy="274320"/>
          </a:xfrm>
          <a:prstGeom prst="rect">
            <a:avLst/>
          </a:prstGeom>
          <a:noFill/>
        </p:spPr>
        <p:txBody>
          <a:bodyPr wrap="none"/>
          <a:lstStyle/>
          <a:p>
            <a:pPr algn="r">
              <a:defRPr sz="1000">
                <a:solidFill>
                  <a:srgbClr val="697887"/>
                </a:solidFill>
                <a:latin typeface="Aptos"/>
              </a:defRPr>
            </a:pPr>
            <a:r>
              <a:rPr sz="1000" b="0" i="0">
                <a:solidFill>
                  <a:srgbClr val="697887"/>
                </a:solidFill>
                <a:latin typeface="Calibri"/>
              </a:rPr>
              <a:t>4</a:t>
            </a:r>
          </a:p>
        </p:txBody>
      </p:sp>
      <p:sp>
        <p:nvSpPr>
          <p:cNvPr id="5" name="Oval 4"/>
          <p:cNvSpPr/>
          <p:nvPr/>
        </p:nvSpPr>
        <p:spPr>
          <a:xfrm>
            <a:off x="731520" y="1325880"/>
            <a:ext cx="548640" cy="548640"/>
          </a:xfrm>
          <a:prstGeom prst="ellipse">
            <a:avLst/>
          </a:prstGeom>
          <a:solidFill>
            <a:srgbClr val="2463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FFFFFF"/>
                </a:solidFill>
                <a:latin typeface="Calibri"/>
              </a:rPr>
              <a:t>1</a:t>
            </a:r>
          </a:p>
        </p:txBody>
      </p:sp>
      <p:sp>
        <p:nvSpPr>
          <p:cNvPr id="6" name="Rounded Rectangle 5"/>
          <p:cNvSpPr/>
          <p:nvPr/>
        </p:nvSpPr>
        <p:spPr>
          <a:xfrm>
            <a:off x="1463040" y="1188720"/>
            <a:ext cx="10012680" cy="868680"/>
          </a:xfrm>
          <a:prstGeom prst="roundRect">
            <a:avLst>
              <a:gd name="adj" fmla="val 8000"/>
            </a:avLst>
          </a:prstGeom>
          <a:solidFill>
            <a:srgbClr val="F1F6FB"/>
          </a:solidFill>
          <a:ln w="12700">
            <a:solidFill>
              <a:srgbClr val="D2DEE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800" b="0" i="0">
                <a:solidFill>
                  <a:srgbClr val="1E2328"/>
                </a:solidFill>
                <a:latin typeface="Calibri"/>
              </a:rPr>
              <a:t>Stream live GPS position from a phone every 1 s (emergency) or 3 s (normal) using a background location task.</a:t>
            </a:r>
          </a:p>
        </p:txBody>
      </p:sp>
      <p:sp>
        <p:nvSpPr>
          <p:cNvPr id="7" name="Oval 6"/>
          <p:cNvSpPr/>
          <p:nvPr/>
        </p:nvSpPr>
        <p:spPr>
          <a:xfrm>
            <a:off x="731520" y="2331720"/>
            <a:ext cx="548640" cy="548640"/>
          </a:xfrm>
          <a:prstGeom prst="ellipse">
            <a:avLst/>
          </a:prstGeom>
          <a:solidFill>
            <a:srgbClr val="2463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FFFFFF"/>
                </a:solidFill>
                <a:latin typeface="Calibri"/>
              </a:rPr>
              <a:t>2</a:t>
            </a:r>
          </a:p>
        </p:txBody>
      </p:sp>
      <p:sp>
        <p:nvSpPr>
          <p:cNvPr id="8" name="Rounded Rectangle 7"/>
          <p:cNvSpPr/>
          <p:nvPr/>
        </p:nvSpPr>
        <p:spPr>
          <a:xfrm>
            <a:off x="1463040" y="2194560"/>
            <a:ext cx="10012680" cy="868680"/>
          </a:xfrm>
          <a:prstGeom prst="roundRect">
            <a:avLst>
              <a:gd name="adj" fmla="val 8000"/>
            </a:avLst>
          </a:prstGeom>
          <a:solidFill>
            <a:srgbClr val="F1F6FB"/>
          </a:solidFill>
          <a:ln w="12700">
            <a:solidFill>
              <a:srgbClr val="D2DEE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800" b="0" i="0">
                <a:solidFill>
                  <a:srgbClr val="1E2328"/>
                </a:solidFill>
                <a:latin typeface="Calibri"/>
              </a:rPr>
              <a:t>Enforce operator/driver access at the database with row-level security, with emergency privilege set only by an administrator.</a:t>
            </a:r>
          </a:p>
        </p:txBody>
      </p:sp>
      <p:sp>
        <p:nvSpPr>
          <p:cNvPr id="9" name="Oval 8"/>
          <p:cNvSpPr/>
          <p:nvPr/>
        </p:nvSpPr>
        <p:spPr>
          <a:xfrm>
            <a:off x="731520" y="3337560"/>
            <a:ext cx="548640" cy="548640"/>
          </a:xfrm>
          <a:prstGeom prst="ellipse">
            <a:avLst/>
          </a:prstGeom>
          <a:solidFill>
            <a:srgbClr val="2463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FFFFFF"/>
                </a:solidFill>
                <a:latin typeface="Calibri"/>
              </a:rPr>
              <a:t>3</a:t>
            </a:r>
          </a:p>
        </p:txBody>
      </p:sp>
      <p:sp>
        <p:nvSpPr>
          <p:cNvPr id="10" name="Rounded Rectangle 9"/>
          <p:cNvSpPr/>
          <p:nvPr/>
        </p:nvSpPr>
        <p:spPr>
          <a:xfrm>
            <a:off x="1463040" y="3200400"/>
            <a:ext cx="10012680" cy="868680"/>
          </a:xfrm>
          <a:prstGeom prst="roundRect">
            <a:avLst>
              <a:gd name="adj" fmla="val 8000"/>
            </a:avLst>
          </a:prstGeom>
          <a:solidFill>
            <a:srgbClr val="F1F6FB"/>
          </a:solidFill>
          <a:ln w="12700">
            <a:solidFill>
              <a:srgbClr val="D2DEE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800" b="0" i="0">
                <a:solidFill>
                  <a:srgbClr val="1E2328"/>
                </a:solidFill>
                <a:latin typeface="Calibri"/>
              </a:rPr>
              <a:t>Record speeding as violation episodes (place, time, peak speed) and keep drive history through database triggers.</a:t>
            </a:r>
          </a:p>
        </p:txBody>
      </p:sp>
      <p:sp>
        <p:nvSpPr>
          <p:cNvPr id="11" name="Oval 10"/>
          <p:cNvSpPr/>
          <p:nvPr/>
        </p:nvSpPr>
        <p:spPr>
          <a:xfrm>
            <a:off x="731520" y="4343400"/>
            <a:ext cx="548640" cy="548640"/>
          </a:xfrm>
          <a:prstGeom prst="ellipse">
            <a:avLst/>
          </a:prstGeom>
          <a:solidFill>
            <a:srgbClr val="2463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FFFFFF"/>
                </a:solidFill>
                <a:latin typeface="Calibri"/>
              </a:rPr>
              <a:t>4</a:t>
            </a:r>
          </a:p>
        </p:txBody>
      </p:sp>
      <p:sp>
        <p:nvSpPr>
          <p:cNvPr id="12" name="Rounded Rectangle 11"/>
          <p:cNvSpPr/>
          <p:nvPr/>
        </p:nvSpPr>
        <p:spPr>
          <a:xfrm>
            <a:off x="1463040" y="4206240"/>
            <a:ext cx="10012680" cy="868680"/>
          </a:xfrm>
          <a:prstGeom prst="roundRect">
            <a:avLst>
              <a:gd name="adj" fmla="val 8000"/>
            </a:avLst>
          </a:prstGeom>
          <a:solidFill>
            <a:srgbClr val="F1F6FB"/>
          </a:solidFill>
          <a:ln w="12700">
            <a:solidFill>
              <a:srgbClr val="D2DEE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800" b="0" i="0">
                <a:solidFill>
                  <a:srgbClr val="1E2328"/>
                </a:solidFill>
                <a:latin typeface="Calibri"/>
              </a:rPr>
              <a:t>Deliver operator alerts to drivers in real time and show the whole fleet on a key-free map (MapLibre, OpenFreeMap).</a:t>
            </a:r>
          </a:p>
        </p:txBody>
      </p:sp>
      <p:sp>
        <p:nvSpPr>
          <p:cNvPr id="13" name="Rounded Rectangle 12"/>
          <p:cNvSpPr/>
          <p:nvPr/>
        </p:nvSpPr>
        <p:spPr>
          <a:xfrm>
            <a:off x="731520" y="5349240"/>
            <a:ext cx="10744200" cy="777240"/>
          </a:xfrm>
          <a:prstGeom prst="roundRect">
            <a:avLst>
              <a:gd name="adj" fmla="val 8000"/>
            </a:avLst>
          </a:prstGeom>
          <a:solidFill>
            <a:srgbClr val="122A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800" b="1" i="0">
                <a:solidFill>
                  <a:srgbClr val="FFFFFF"/>
                </a:solidFill>
                <a:latin typeface="Calibri"/>
              </a:rPr>
              <a:t>Expected measurable outcome:  </a:t>
            </a:r>
            <a:r>
              <a:rPr sz="1800" b="0" i="0">
                <a:solidFill>
                  <a:srgbClr val="FFFFFF"/>
                </a:solidFill>
                <a:latin typeface="Calibri"/>
              </a:rPr>
              <a:t>1 s / 3 s update interval and 139 automated tests passing (54 mobile + 85 database/RLS).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46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74320"/>
            <a:ext cx="11000232" cy="640080"/>
          </a:xfrm>
          <a:prstGeom prst="rect">
            <a:avLst/>
          </a:prstGeom>
          <a:noFill/>
        </p:spPr>
        <p:txBody>
          <a:bodyPr wrap="square"/>
          <a:lstStyle/>
          <a:p>
            <a:pPr algn="ctr">
              <a:defRPr sz="2700" b="1">
                <a:solidFill>
                  <a:srgbClr val="122A4C"/>
                </a:solidFill>
                <a:latin typeface="Aptos Display"/>
              </a:defRPr>
            </a:pPr>
            <a:r>
              <a:rPr sz="3000" b="1" i="0">
                <a:solidFill>
                  <a:srgbClr val="122A4C"/>
                </a:solidFill>
                <a:latin typeface="Calibri"/>
              </a:rPr>
              <a:t>Literature Review / Existing System</a:t>
            </a:r>
          </a:p>
        </p:txBody>
      </p:sp>
      <p:sp>
        <p:nvSpPr>
          <p:cNvPr id="4" name="TextBox 3"/>
          <p:cNvSpPr txBox="1"/>
          <p:nvPr/>
        </p:nvSpPr>
        <p:spPr>
          <a:xfrm>
            <a:off x="11155680" y="6309360"/>
            <a:ext cx="457200" cy="274320"/>
          </a:xfrm>
          <a:prstGeom prst="rect">
            <a:avLst/>
          </a:prstGeom>
          <a:noFill/>
        </p:spPr>
        <p:txBody>
          <a:bodyPr wrap="none"/>
          <a:lstStyle/>
          <a:p>
            <a:pPr algn="r">
              <a:defRPr sz="1000">
                <a:solidFill>
                  <a:srgbClr val="697887"/>
                </a:solidFill>
                <a:latin typeface="Aptos"/>
              </a:defRPr>
            </a:pPr>
            <a:r>
              <a:rPr sz="1000" b="0" i="0">
                <a:solidFill>
                  <a:srgbClr val="697887"/>
                </a:solidFill>
                <a:latin typeface="Calibri"/>
              </a:rPr>
              <a:t>5</a:t>
            </a:r>
          </a:p>
        </p:txBody>
      </p:sp>
      <p:graphicFrame>
        <p:nvGraphicFramePr>
          <p:cNvPr id="5" name="Table 4"/>
          <p:cNvGraphicFramePr>
            <a:graphicFrameLocks noGrp="1"/>
          </p:cNvGraphicFramePr>
          <p:nvPr/>
        </p:nvGraphicFramePr>
        <p:xfrm>
          <a:off x="685800" y="1234440"/>
          <a:ext cx="10881360" cy="3566160"/>
        </p:xfrm>
        <a:graphic>
          <a:graphicData uri="http://schemas.openxmlformats.org/drawingml/2006/table">
            <a:tbl>
              <a:tblPr firstRow="1" bandRow="1">
                <a:tableStyleId>{5C22544A-7EE6-4342-B048-85BDC9FD1C3A}</a:tableStyleId>
              </a:tblPr>
              <a:tblGrid>
                <a:gridCol w="2834640"/>
                <a:gridCol w="3200400"/>
                <a:gridCol w="2377440"/>
                <a:gridCol w="2468880"/>
              </a:tblGrid>
              <a:tr h="457200">
                <a:tc>
                  <a:txBody>
                    <a:bodyPr wrap="square"/>
                    <a:lstStyle/>
                    <a:p>
                      <a:r>
                        <a:rPr sz="1500" b="1" i="0">
                          <a:solidFill>
                            <a:srgbClr val="FFFFFF"/>
                          </a:solidFill>
                          <a:latin typeface="Calibri"/>
                        </a:rPr>
                        <a:t>Work / System</a:t>
                      </a:r>
                    </a:p>
                  </a:txBody>
                  <a:tcPr marL="91440" marR="91440" marT="36576" marB="36576" anchor="ctr">
                    <a:solidFill>
                      <a:srgbClr val="122A4C"/>
                    </a:solidFill>
                  </a:tcPr>
                </a:tc>
                <a:tc>
                  <a:txBody>
                    <a:bodyPr wrap="square"/>
                    <a:lstStyle/>
                    <a:p>
                      <a:r>
                        <a:rPr sz="1500" b="1" i="0">
                          <a:solidFill>
                            <a:srgbClr val="FFFFFF"/>
                          </a:solidFill>
                          <a:latin typeface="Calibri"/>
                        </a:rPr>
                        <a:t>Method</a:t>
                      </a:r>
                    </a:p>
                  </a:txBody>
                  <a:tcPr marL="91440" marR="91440" marT="36576" marB="36576" anchor="ctr">
                    <a:solidFill>
                      <a:srgbClr val="122A4C"/>
                    </a:solidFill>
                  </a:tcPr>
                </a:tc>
                <a:tc>
                  <a:txBody>
                    <a:bodyPr wrap="square"/>
                    <a:lstStyle/>
                    <a:p>
                      <a:r>
                        <a:rPr sz="1500" b="1" i="0">
                          <a:solidFill>
                            <a:srgbClr val="FFFFFF"/>
                          </a:solidFill>
                          <a:latin typeface="Calibri"/>
                        </a:rPr>
                        <a:t>Result</a:t>
                      </a:r>
                    </a:p>
                  </a:txBody>
                  <a:tcPr marL="91440" marR="91440" marT="36576" marB="36576" anchor="ctr">
                    <a:solidFill>
                      <a:srgbClr val="122A4C"/>
                    </a:solidFill>
                  </a:tcPr>
                </a:tc>
                <a:tc>
                  <a:txBody>
                    <a:bodyPr wrap="square"/>
                    <a:lstStyle/>
                    <a:p>
                      <a:r>
                        <a:rPr sz="1500" b="1" i="0">
                          <a:solidFill>
                            <a:srgbClr val="FFFFFF"/>
                          </a:solidFill>
                          <a:latin typeface="Calibri"/>
                        </a:rPr>
                        <a:t>Limitation</a:t>
                      </a:r>
                    </a:p>
                  </a:txBody>
                  <a:tcPr marL="91440" marR="91440" marT="36576" marB="36576" anchor="ctr">
                    <a:solidFill>
                      <a:srgbClr val="122A4C"/>
                    </a:solidFill>
                  </a:tcPr>
                </a:tc>
              </a:tr>
              <a:tr h="777240">
                <a:tc>
                  <a:txBody>
                    <a:bodyPr wrap="square"/>
                    <a:lstStyle/>
                    <a:p>
                      <a:r>
                        <a:rPr sz="1300" b="1" i="0">
                          <a:solidFill>
                            <a:srgbClr val="122A4C"/>
                          </a:solidFill>
                          <a:latin typeface="Calibri"/>
                        </a:rPr>
                        <a:t>Traccar (open-source GPS tracking)</a:t>
                      </a:r>
                    </a:p>
                  </a:txBody>
                  <a:tcPr marL="91440" marR="91440" marT="36576" marB="36576" anchor="ctr">
                    <a:solidFill>
                      <a:srgbClr val="F1F6FB"/>
                    </a:solidFill>
                  </a:tcPr>
                </a:tc>
                <a:tc>
                  <a:txBody>
                    <a:bodyPr wrap="square"/>
                    <a:lstStyle/>
                    <a:p>
                      <a:r>
                        <a:rPr sz="1300" b="0" i="0">
                          <a:solidFill>
                            <a:srgbClr val="1E2328"/>
                          </a:solidFill>
                          <a:latin typeface="Calibri"/>
                        </a:rPr>
                        <a:t>Server receives positions from many device protocols and shows them on a map</a:t>
                      </a:r>
                    </a:p>
                  </a:txBody>
                  <a:tcPr marL="91440" marR="91440" marT="36576" marB="36576" anchor="ctr">
                    <a:solidFill>
                      <a:srgbClr val="F1F6FB"/>
                    </a:solidFill>
                  </a:tcPr>
                </a:tc>
                <a:tc>
                  <a:txBody>
                    <a:bodyPr wrap="square"/>
                    <a:lstStyle/>
                    <a:p>
                      <a:r>
                        <a:rPr sz="1300" b="0" i="0">
                          <a:solidFill>
                            <a:srgbClr val="1E2328"/>
                          </a:solidFill>
                          <a:latin typeface="Calibri"/>
                        </a:rPr>
                        <a:t>Mature, widely deployed fleet tracking</a:t>
                      </a:r>
                    </a:p>
                  </a:txBody>
                  <a:tcPr marL="91440" marR="91440" marT="36576" marB="36576" anchor="ctr">
                    <a:solidFill>
                      <a:srgbClr val="F1F6FB"/>
                    </a:solidFill>
                  </a:tcPr>
                </a:tc>
                <a:tc>
                  <a:txBody>
                    <a:bodyPr wrap="square"/>
                    <a:lstStyle/>
                    <a:p>
                      <a:r>
                        <a:rPr sz="1300" b="0" i="0">
                          <a:solidFill>
                            <a:srgbClr val="1E2328"/>
                          </a:solidFill>
                          <a:latin typeface="Calibri"/>
                        </a:rPr>
                        <a:t>Server-centric to self-host; no built-in emergency-privilege model</a:t>
                      </a:r>
                    </a:p>
                  </a:txBody>
                  <a:tcPr marL="91440" marR="91440" marT="36576" marB="36576" anchor="ctr">
                    <a:solidFill>
                      <a:srgbClr val="F1F6FB"/>
                    </a:solidFill>
                  </a:tcPr>
                </a:tc>
              </a:tr>
              <a:tr h="777240">
                <a:tc>
                  <a:txBody>
                    <a:bodyPr wrap="square"/>
                    <a:lstStyle/>
                    <a:p>
                      <a:r>
                        <a:rPr sz="1300" b="1" i="0">
                          <a:solidFill>
                            <a:srgbClr val="122A4C"/>
                          </a:solidFill>
                          <a:latin typeface="Calibri"/>
                        </a:rPr>
                        <a:t>3M Opticom (signal preemption)</a:t>
                      </a:r>
                    </a:p>
                  </a:txBody>
                  <a:tcPr marL="91440" marR="91440" marT="36576" marB="36576" anchor="ctr">
                    <a:solidFill>
                      <a:srgbClr val="FFFFFF"/>
                    </a:solidFill>
                  </a:tcPr>
                </a:tc>
                <a:tc>
                  <a:txBody>
                    <a:bodyPr wrap="square"/>
                    <a:lstStyle/>
                    <a:p>
                      <a:r>
                        <a:rPr sz="1300" b="0" i="0">
                          <a:solidFill>
                            <a:srgbClr val="1E2328"/>
                          </a:solidFill>
                          <a:latin typeface="Calibri"/>
                        </a:rPr>
                        <a:t>Emergency vehicle emitter/GPS asks intersections for a green light</a:t>
                      </a:r>
                    </a:p>
                  </a:txBody>
                  <a:tcPr marL="91440" marR="91440" marT="36576" marB="36576" anchor="ctr">
                    <a:solidFill>
                      <a:srgbClr val="FFFFFF"/>
                    </a:solidFill>
                  </a:tcPr>
                </a:tc>
                <a:tc>
                  <a:txBody>
                    <a:bodyPr wrap="square"/>
                    <a:lstStyle/>
                    <a:p>
                      <a:r>
                        <a:rPr sz="1300" b="0" i="0">
                          <a:solidFill>
                            <a:srgbClr val="1E2328"/>
                          </a:solidFill>
                          <a:latin typeface="Calibri"/>
                        </a:rPr>
                        <a:t>Faster passage through equipped junctions</a:t>
                      </a:r>
                    </a:p>
                  </a:txBody>
                  <a:tcPr marL="91440" marR="91440" marT="36576" marB="36576" anchor="ctr">
                    <a:solidFill>
                      <a:srgbClr val="FFFFFF"/>
                    </a:solidFill>
                  </a:tcPr>
                </a:tc>
                <a:tc>
                  <a:txBody>
                    <a:bodyPr wrap="square"/>
                    <a:lstStyle/>
                    <a:p>
                      <a:r>
                        <a:rPr sz="1300" b="0" i="0">
                          <a:solidFill>
                            <a:srgbClr val="1E2328"/>
                          </a:solidFill>
                          <a:latin typeface="Calibri"/>
                        </a:rPr>
                        <a:t>Needs roadside hardware at every intersection</a:t>
                      </a:r>
                    </a:p>
                  </a:txBody>
                  <a:tcPr marL="91440" marR="91440" marT="36576" marB="36576" anchor="ctr">
                    <a:solidFill>
                      <a:srgbClr val="FFFFFF"/>
                    </a:solidFill>
                  </a:tcPr>
                </a:tc>
              </a:tr>
              <a:tr h="777240">
                <a:tc>
                  <a:txBody>
                    <a:bodyPr wrap="square"/>
                    <a:lstStyle/>
                    <a:p>
                      <a:r>
                        <a:rPr sz="1300" b="1" i="0">
                          <a:solidFill>
                            <a:srgbClr val="122A4C"/>
                          </a:solidFill>
                          <a:latin typeface="Calibri"/>
                        </a:rPr>
                        <a:t>Google Maps Platform fleet/routing</a:t>
                      </a:r>
                    </a:p>
                  </a:txBody>
                  <a:tcPr marL="91440" marR="91440" marT="36576" marB="36576" anchor="ctr">
                    <a:solidFill>
                      <a:srgbClr val="F1F6FB"/>
                    </a:solidFill>
                  </a:tcPr>
                </a:tc>
                <a:tc>
                  <a:txBody>
                    <a:bodyPr wrap="square"/>
                    <a:lstStyle/>
                    <a:p>
                      <a:r>
                        <a:rPr sz="1300" b="0" i="0">
                          <a:solidFill>
                            <a:srgbClr val="1E2328"/>
                          </a:solidFill>
                          <a:latin typeface="Calibri"/>
                        </a:rPr>
                        <a:t>Commercial maps, routing and fleet APIs</a:t>
                      </a:r>
                    </a:p>
                  </a:txBody>
                  <a:tcPr marL="91440" marR="91440" marT="36576" marB="36576" anchor="ctr">
                    <a:solidFill>
                      <a:srgbClr val="F1F6FB"/>
                    </a:solidFill>
                  </a:tcPr>
                </a:tc>
                <a:tc>
                  <a:txBody>
                    <a:bodyPr wrap="square"/>
                    <a:lstStyle/>
                    <a:p>
                      <a:r>
                        <a:rPr sz="1300" b="0" i="0">
                          <a:solidFill>
                            <a:srgbClr val="1E2328"/>
                          </a:solidFill>
                          <a:latin typeface="Calibri"/>
                        </a:rPr>
                        <a:t>Rich, polished data</a:t>
                      </a:r>
                    </a:p>
                  </a:txBody>
                  <a:tcPr marL="91440" marR="91440" marT="36576" marB="36576" anchor="ctr">
                    <a:solidFill>
                      <a:srgbClr val="F1F6FB"/>
                    </a:solidFill>
                  </a:tcPr>
                </a:tc>
                <a:tc>
                  <a:txBody>
                    <a:bodyPr wrap="square"/>
                    <a:lstStyle/>
                    <a:p>
                      <a:r>
                        <a:rPr sz="1300" b="0" i="0">
                          <a:solidFill>
                            <a:srgbClr val="1E2328"/>
                          </a:solidFill>
                          <a:latin typeface="Calibri"/>
                        </a:rPr>
                        <a:t>API keys and per-request billing; vendor lock-in</a:t>
                      </a:r>
                    </a:p>
                  </a:txBody>
                  <a:tcPr marL="91440" marR="91440" marT="36576" marB="36576" anchor="ctr">
                    <a:solidFill>
                      <a:srgbClr val="F1F6FB"/>
                    </a:solidFill>
                  </a:tcPr>
                </a:tc>
              </a:tr>
              <a:tr h="777240">
                <a:tc>
                  <a:txBody>
                    <a:bodyPr wrap="square"/>
                    <a:lstStyle/>
                    <a:p>
                      <a:r>
                        <a:rPr sz="1300" b="1" i="0">
                          <a:solidFill>
                            <a:srgbClr val="122A4C"/>
                          </a:solidFill>
                          <a:latin typeface="Calibri"/>
                        </a:rPr>
                        <a:t>OSRM (Luxen &amp; Vetter, 2011)</a:t>
                      </a:r>
                    </a:p>
                  </a:txBody>
                  <a:tcPr marL="91440" marR="91440" marT="36576" marB="36576" anchor="ctr">
                    <a:solidFill>
                      <a:srgbClr val="FFFFFF"/>
                    </a:solidFill>
                  </a:tcPr>
                </a:tc>
                <a:tc>
                  <a:txBody>
                    <a:bodyPr wrap="square"/>
                    <a:lstStyle/>
                    <a:p>
                      <a:r>
                        <a:rPr sz="1300" b="0" i="0">
                          <a:solidFill>
                            <a:srgbClr val="1E2328"/>
                          </a:solidFill>
                          <a:latin typeface="Calibri"/>
                        </a:rPr>
                        <a:t>Contraction-hierarchies routing on OpenStreetMap data</a:t>
                      </a:r>
                    </a:p>
                  </a:txBody>
                  <a:tcPr marL="91440" marR="91440" marT="36576" marB="36576" anchor="ctr">
                    <a:solidFill>
                      <a:srgbClr val="FFFFFF"/>
                    </a:solidFill>
                  </a:tcPr>
                </a:tc>
                <a:tc>
                  <a:txBody>
                    <a:bodyPr wrap="square"/>
                    <a:lstStyle/>
                    <a:p>
                      <a:r>
                        <a:rPr sz="1300" b="0" i="0">
                          <a:solidFill>
                            <a:srgbClr val="1E2328"/>
                          </a:solidFill>
                          <a:latin typeface="Calibri"/>
                        </a:rPr>
                        <a:t>Fast open-source routing</a:t>
                      </a:r>
                    </a:p>
                  </a:txBody>
                  <a:tcPr marL="91440" marR="91440" marT="36576" marB="36576" anchor="ctr">
                    <a:solidFill>
                      <a:srgbClr val="FFFFFF"/>
                    </a:solidFill>
                  </a:tcPr>
                </a:tc>
                <a:tc>
                  <a:txBody>
                    <a:bodyPr wrap="square"/>
                    <a:lstStyle/>
                    <a:p>
                      <a:r>
                        <a:rPr sz="1300" b="0" i="0">
                          <a:solidFill>
                            <a:srgbClr val="1E2328"/>
                          </a:solidFill>
                          <a:latin typeface="Calibri"/>
                        </a:rPr>
                        <a:t>Public endpoint meant for light use</a:t>
                      </a:r>
                    </a:p>
                  </a:txBody>
                  <a:tcPr marL="91440" marR="91440" marT="36576" marB="36576" anchor="ctr">
                    <a:solidFill>
                      <a:srgbClr val="FFFFFF"/>
                    </a:solidFill>
                  </a:tcPr>
                </a:tc>
              </a:tr>
            </a:tbl>
          </a:graphicData>
        </a:graphic>
      </p:graphicFrame>
      <p:sp>
        <p:nvSpPr>
          <p:cNvPr id="6" name="Rounded Rectangle 5"/>
          <p:cNvSpPr/>
          <p:nvPr/>
        </p:nvSpPr>
        <p:spPr>
          <a:xfrm>
            <a:off x="685800" y="5029200"/>
            <a:ext cx="10881360" cy="1051560"/>
          </a:xfrm>
          <a:prstGeom prst="roundRect">
            <a:avLst>
              <a:gd name="adj" fmla="val 8000"/>
            </a:avLst>
          </a:prstGeom>
          <a:solidFill>
            <a:srgbClr val="DCE9F6"/>
          </a:solidFill>
          <a:ln w="12700">
            <a:solidFill>
              <a:srgbClr val="D2DEE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500" b="1" i="0">
                <a:solidFill>
                  <a:srgbClr val="122A4C"/>
                </a:solidFill>
                <a:latin typeface="Calibri"/>
              </a:rPr>
              <a:t>Gap and difference:  </a:t>
            </a:r>
            <a:r>
              <a:rPr sz="1500" b="0" i="0">
                <a:solidFill>
                  <a:srgbClr val="1E2328"/>
                </a:solidFill>
                <a:latin typeface="Calibri"/>
              </a:rPr>
              <a:t>SUTRA combines live tracking, alerts, violation history and a tamper-resistant emergency-privilege model in one key-free, software-only stack; privilege is a database column that drivers cannot forge, and no roadside hardware is required.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46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74320"/>
            <a:ext cx="11000232" cy="640080"/>
          </a:xfrm>
          <a:prstGeom prst="rect">
            <a:avLst/>
          </a:prstGeom>
          <a:noFill/>
        </p:spPr>
        <p:txBody>
          <a:bodyPr wrap="square"/>
          <a:lstStyle/>
          <a:p>
            <a:pPr algn="ctr">
              <a:defRPr sz="2700" b="1">
                <a:solidFill>
                  <a:srgbClr val="122A4C"/>
                </a:solidFill>
                <a:latin typeface="Aptos Display"/>
              </a:defRPr>
            </a:pPr>
            <a:r>
              <a:rPr sz="3000" b="1" i="0">
                <a:solidFill>
                  <a:srgbClr val="122A4C"/>
                </a:solidFill>
                <a:latin typeface="Calibri"/>
              </a:rPr>
              <a:t>Proposed Solution</a:t>
            </a:r>
          </a:p>
        </p:txBody>
      </p:sp>
      <p:sp>
        <p:nvSpPr>
          <p:cNvPr id="4" name="TextBox 3"/>
          <p:cNvSpPr txBox="1"/>
          <p:nvPr/>
        </p:nvSpPr>
        <p:spPr>
          <a:xfrm>
            <a:off x="11155680" y="6309360"/>
            <a:ext cx="457200" cy="274320"/>
          </a:xfrm>
          <a:prstGeom prst="rect">
            <a:avLst/>
          </a:prstGeom>
          <a:noFill/>
        </p:spPr>
        <p:txBody>
          <a:bodyPr wrap="none"/>
          <a:lstStyle/>
          <a:p>
            <a:pPr algn="r">
              <a:defRPr sz="1000">
                <a:solidFill>
                  <a:srgbClr val="697887"/>
                </a:solidFill>
                <a:latin typeface="Aptos"/>
              </a:defRPr>
            </a:pPr>
            <a:r>
              <a:rPr sz="1000" b="0" i="0">
                <a:solidFill>
                  <a:srgbClr val="697887"/>
                </a:solidFill>
                <a:latin typeface="Calibri"/>
              </a:rPr>
              <a:t>6</a:t>
            </a:r>
          </a:p>
        </p:txBody>
      </p:sp>
      <p:sp>
        <p:nvSpPr>
          <p:cNvPr id="5" name="TextBox 4"/>
          <p:cNvSpPr txBox="1"/>
          <p:nvPr/>
        </p:nvSpPr>
        <p:spPr>
          <a:xfrm>
            <a:off x="594360" y="6291072"/>
            <a:ext cx="8229600" cy="274320"/>
          </a:xfrm>
          <a:prstGeom prst="rect">
            <a:avLst/>
          </a:prstGeom>
          <a:noFill/>
        </p:spPr>
        <p:txBody>
          <a:bodyPr wrap="square"/>
          <a:lstStyle/>
          <a:p>
            <a:pPr>
              <a:defRPr sz="900">
                <a:solidFill>
                  <a:srgbClr val="697887"/>
                </a:solidFill>
                <a:latin typeface="Aptos"/>
              </a:defRPr>
            </a:pPr>
            <a:r>
              <a:rPr sz="1000" b="0" i="0">
                <a:solidFill>
                  <a:srgbClr val="697887"/>
                </a:solidFill>
                <a:latin typeface="Calibri"/>
              </a:rPr>
              <a:t>Final Year Project Review | Department of Electrical &amp; Computer Engineering | Session 2026–27</a:t>
            </a:r>
          </a:p>
        </p:txBody>
      </p:sp>
      <p:sp>
        <p:nvSpPr>
          <p:cNvPr id="6" name="Rounded Rectangle 5"/>
          <p:cNvSpPr/>
          <p:nvPr/>
        </p:nvSpPr>
        <p:spPr>
          <a:xfrm>
            <a:off x="685800" y="1188720"/>
            <a:ext cx="3520440" cy="3246120"/>
          </a:xfrm>
          <a:prstGeom prst="roundRect">
            <a:avLst>
              <a:gd name="adj" fmla="val 8000"/>
            </a:avLst>
          </a:prstGeom>
          <a:solidFill>
            <a:srgbClr val="F1F6FB"/>
          </a:solidFill>
          <a:ln w="12700">
            <a:solidFill>
              <a:srgbClr val="D2DE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188720"/>
            <a:ext cx="3520440" cy="868680"/>
          </a:xfrm>
          <a:prstGeom prst="roundRect">
            <a:avLst>
              <a:gd name="adj" fmla="val 8000"/>
            </a:avLst>
          </a:prstGeom>
          <a:solidFill>
            <a:srgbClr val="122A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2200" b="1" i="0">
                <a:solidFill>
                  <a:srgbClr val="FFFFFF"/>
                </a:solidFill>
                <a:latin typeface="Calibri"/>
              </a:rPr>
              <a:t>Vehicle client</a:t>
            </a:r>
          </a:p>
          <a:p>
            <a:pPr algn="l"/>
            <a:r>
              <a:rPr sz="1400" b="0" i="0">
                <a:solidFill>
                  <a:srgbClr val="DCE9F6"/>
                </a:solidFill>
                <a:latin typeface="Calibri"/>
              </a:rPr>
              <a:t>Expo / React Native app</a:t>
            </a:r>
          </a:p>
        </p:txBody>
      </p:sp>
      <p:sp>
        <p:nvSpPr>
          <p:cNvPr id="8" name="TextBox 7"/>
          <p:cNvSpPr txBox="1"/>
          <p:nvPr/>
        </p:nvSpPr>
        <p:spPr>
          <a:xfrm>
            <a:off x="868680" y="2240280"/>
            <a:ext cx="3154680" cy="2103120"/>
          </a:xfrm>
          <a:prstGeom prst="rect">
            <a:avLst/>
          </a:prstGeom>
          <a:noFill/>
        </p:spPr>
        <p:txBody>
          <a:bodyPr wrap="square" anchor="t" lIns="0" rIns="0" tIns="0" bIns="0">
            <a:spAutoFit/>
          </a:bodyPr>
          <a:lstStyle/>
          <a:p>
            <a:pPr algn="l"/>
            <a:r>
              <a:rPr sz="1900" b="0" i="0">
                <a:solidFill>
                  <a:srgbClr val="1E2328"/>
                </a:solidFill>
                <a:latin typeface="Calibri"/>
              </a:rPr>
              <a:t>Sign in, pick own vehicle, background GPS upsert, map with place search, receives alerts and crash reports.</a:t>
            </a:r>
          </a:p>
        </p:txBody>
      </p:sp>
      <p:sp>
        <p:nvSpPr>
          <p:cNvPr id="9" name="Rounded Rectangle 8"/>
          <p:cNvSpPr/>
          <p:nvPr/>
        </p:nvSpPr>
        <p:spPr>
          <a:xfrm>
            <a:off x="4343400" y="1188720"/>
            <a:ext cx="3520440" cy="3246120"/>
          </a:xfrm>
          <a:prstGeom prst="roundRect">
            <a:avLst>
              <a:gd name="adj" fmla="val 8000"/>
            </a:avLst>
          </a:prstGeom>
          <a:solidFill>
            <a:srgbClr val="F1F6FB"/>
          </a:solidFill>
          <a:ln w="12700">
            <a:solidFill>
              <a:srgbClr val="D2DE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43400" y="1188720"/>
            <a:ext cx="3520440" cy="868680"/>
          </a:xfrm>
          <a:prstGeom prst="roundRect">
            <a:avLst>
              <a:gd name="adj" fmla="val 8000"/>
            </a:avLst>
          </a:prstGeom>
          <a:solidFill>
            <a:srgbClr val="122A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2200" b="1" i="0">
                <a:solidFill>
                  <a:srgbClr val="FFFFFF"/>
                </a:solidFill>
                <a:latin typeface="Calibri"/>
              </a:rPr>
              <a:t>Supabase backend</a:t>
            </a:r>
          </a:p>
          <a:p>
            <a:pPr algn="l"/>
            <a:r>
              <a:rPr sz="1400" b="0" i="0">
                <a:solidFill>
                  <a:srgbClr val="DCE9F6"/>
                </a:solidFill>
                <a:latin typeface="Calibri"/>
              </a:rPr>
              <a:t>Postgres + RLS + Realtime</a:t>
            </a:r>
          </a:p>
        </p:txBody>
      </p:sp>
      <p:sp>
        <p:nvSpPr>
          <p:cNvPr id="11" name="TextBox 10"/>
          <p:cNvSpPr txBox="1"/>
          <p:nvPr/>
        </p:nvSpPr>
        <p:spPr>
          <a:xfrm>
            <a:off x="4526280" y="2240280"/>
            <a:ext cx="3154680" cy="2103120"/>
          </a:xfrm>
          <a:prstGeom prst="rect">
            <a:avLst/>
          </a:prstGeom>
          <a:noFill/>
        </p:spPr>
        <p:txBody>
          <a:bodyPr wrap="square" anchor="t" lIns="0" rIns="0" tIns="0" bIns="0">
            <a:spAutoFit/>
          </a:bodyPr>
          <a:lstStyle/>
          <a:p>
            <a:pPr algn="l"/>
            <a:r>
              <a:rPr sz="1900" b="0" i="0">
                <a:solidFill>
                  <a:srgbClr val="1E2328"/>
                </a:solidFill>
                <a:latin typeface="Calibri"/>
              </a:rPr>
              <a:t>Constraints validate data, triggers write history and violations, Edge Functions proxy routing and geocoding.</a:t>
            </a:r>
          </a:p>
        </p:txBody>
      </p:sp>
      <p:sp>
        <p:nvSpPr>
          <p:cNvPr id="12" name="Rounded Rectangle 11"/>
          <p:cNvSpPr/>
          <p:nvPr/>
        </p:nvSpPr>
        <p:spPr>
          <a:xfrm>
            <a:off x="8001000" y="1188720"/>
            <a:ext cx="3520440" cy="3246120"/>
          </a:xfrm>
          <a:prstGeom prst="roundRect">
            <a:avLst>
              <a:gd name="adj" fmla="val 8000"/>
            </a:avLst>
          </a:prstGeom>
          <a:solidFill>
            <a:srgbClr val="F1F6FB"/>
          </a:solidFill>
          <a:ln w="12700">
            <a:solidFill>
              <a:srgbClr val="D2DE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001000" y="1188720"/>
            <a:ext cx="3520440" cy="868680"/>
          </a:xfrm>
          <a:prstGeom prst="roundRect">
            <a:avLst>
              <a:gd name="adj" fmla="val 8000"/>
            </a:avLst>
          </a:prstGeom>
          <a:solidFill>
            <a:srgbClr val="122A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2200" b="1" i="0">
                <a:solidFill>
                  <a:srgbClr val="FFFFFF"/>
                </a:solidFill>
                <a:latin typeface="Calibri"/>
              </a:rPr>
              <a:t>Operator console</a:t>
            </a:r>
          </a:p>
          <a:p>
            <a:pPr algn="l"/>
            <a:r>
              <a:rPr sz="1400" b="0" i="0">
                <a:solidFill>
                  <a:srgbClr val="DCE9F6"/>
                </a:solidFill>
                <a:latin typeface="Calibri"/>
              </a:rPr>
              <a:t>Vanilla JS + MapLibre</a:t>
            </a:r>
          </a:p>
        </p:txBody>
      </p:sp>
      <p:sp>
        <p:nvSpPr>
          <p:cNvPr id="14" name="TextBox 13"/>
          <p:cNvSpPr txBox="1"/>
          <p:nvPr/>
        </p:nvSpPr>
        <p:spPr>
          <a:xfrm>
            <a:off x="8183879" y="2240280"/>
            <a:ext cx="3154680" cy="2103120"/>
          </a:xfrm>
          <a:prstGeom prst="rect">
            <a:avLst/>
          </a:prstGeom>
          <a:noFill/>
        </p:spPr>
        <p:txBody>
          <a:bodyPr wrap="square" anchor="t" lIns="0" rIns="0" tIns="0" bIns="0">
            <a:spAutoFit/>
          </a:bodyPr>
          <a:lstStyle/>
          <a:p>
            <a:pPr algn="l"/>
            <a:r>
              <a:rPr sz="1900" b="0" i="0">
                <a:solidFill>
                  <a:srgbClr val="1E2328"/>
                </a:solidFill>
                <a:latin typeface="Calibri"/>
              </a:rPr>
              <a:t>One interface for both roles: fleet map, drive history, violations, alerts, emergency status.</a:t>
            </a:r>
          </a:p>
        </p:txBody>
      </p:sp>
      <p:sp>
        <p:nvSpPr>
          <p:cNvPr id="15" name="TextBox 14"/>
          <p:cNvSpPr txBox="1"/>
          <p:nvPr/>
        </p:nvSpPr>
        <p:spPr>
          <a:xfrm>
            <a:off x="685800" y="4617720"/>
            <a:ext cx="10789920" cy="365760"/>
          </a:xfrm>
          <a:prstGeom prst="rect">
            <a:avLst/>
          </a:prstGeom>
          <a:noFill/>
        </p:spPr>
        <p:txBody>
          <a:bodyPr wrap="square" anchor="t" lIns="0" rIns="0" tIns="0" bIns="0">
            <a:spAutoFit/>
          </a:bodyPr>
          <a:lstStyle/>
          <a:p>
            <a:pPr algn="l"/>
            <a:r>
              <a:rPr sz="1800" b="1" i="0">
                <a:solidFill>
                  <a:srgbClr val="122A4C"/>
                </a:solidFill>
                <a:latin typeface="Calibri"/>
              </a:rPr>
              <a:t>What is new compared with existing approaches</a:t>
            </a:r>
          </a:p>
        </p:txBody>
      </p:sp>
      <p:sp>
        <p:nvSpPr>
          <p:cNvPr id="16" name="Rounded Rectangle 15"/>
          <p:cNvSpPr/>
          <p:nvPr/>
        </p:nvSpPr>
        <p:spPr>
          <a:xfrm>
            <a:off x="685800" y="5029200"/>
            <a:ext cx="3520440" cy="868680"/>
          </a:xfrm>
          <a:prstGeom prst="roundRect">
            <a:avLst>
              <a:gd name="adj" fmla="val 8000"/>
            </a:avLst>
          </a:prstGeom>
          <a:solidFill>
            <a:srgbClr val="DCE9F6"/>
          </a:solidFill>
          <a:ln w="12700">
            <a:solidFill>
              <a:srgbClr val="D2DEEB"/>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500" b="1" i="0">
                <a:solidFill>
                  <a:srgbClr val="122A4C"/>
                </a:solidFill>
                <a:latin typeface="Calibri"/>
              </a:rPr>
              <a:t>Role decided by data, not a separate login</a:t>
            </a:r>
          </a:p>
        </p:txBody>
      </p:sp>
      <p:sp>
        <p:nvSpPr>
          <p:cNvPr id="17" name="Rounded Rectangle 16"/>
          <p:cNvSpPr/>
          <p:nvPr/>
        </p:nvSpPr>
        <p:spPr>
          <a:xfrm>
            <a:off x="4343400" y="5029200"/>
            <a:ext cx="3520440" cy="868680"/>
          </a:xfrm>
          <a:prstGeom prst="roundRect">
            <a:avLst>
              <a:gd name="adj" fmla="val 8000"/>
            </a:avLst>
          </a:prstGeom>
          <a:solidFill>
            <a:srgbClr val="DCE9F6"/>
          </a:solidFill>
          <a:ln w="12700">
            <a:solidFill>
              <a:srgbClr val="D2DEEB"/>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500" b="1" i="0">
                <a:solidFill>
                  <a:srgbClr val="122A4C"/>
                </a:solidFill>
                <a:latin typeface="Calibri"/>
              </a:rPr>
              <a:t>Emergency status derived server-side, nothing to forge</a:t>
            </a:r>
          </a:p>
        </p:txBody>
      </p:sp>
      <p:sp>
        <p:nvSpPr>
          <p:cNvPr id="18" name="Rounded Rectangle 17"/>
          <p:cNvSpPr/>
          <p:nvPr/>
        </p:nvSpPr>
        <p:spPr>
          <a:xfrm>
            <a:off x="8001000" y="5029200"/>
            <a:ext cx="3520440" cy="868680"/>
          </a:xfrm>
          <a:prstGeom prst="roundRect">
            <a:avLst>
              <a:gd name="adj" fmla="val 8000"/>
            </a:avLst>
          </a:prstGeom>
          <a:solidFill>
            <a:srgbClr val="DCE9F6"/>
          </a:solidFill>
          <a:ln w="12700">
            <a:solidFill>
              <a:srgbClr val="D2DEEB"/>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500" b="1" i="0">
                <a:solidFill>
                  <a:srgbClr val="122A4C"/>
                </a:solidFill>
                <a:latin typeface="Calibri"/>
              </a:rPr>
              <a:t>No map API keys: MapLibre, OpenFreeMap, OSRM, Nominatim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46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74320"/>
            <a:ext cx="11000232" cy="640080"/>
          </a:xfrm>
          <a:prstGeom prst="rect">
            <a:avLst/>
          </a:prstGeom>
          <a:noFill/>
        </p:spPr>
        <p:txBody>
          <a:bodyPr wrap="square"/>
          <a:lstStyle/>
          <a:p>
            <a:pPr algn="ctr">
              <a:defRPr sz="2700" b="1">
                <a:solidFill>
                  <a:srgbClr val="122A4C"/>
                </a:solidFill>
                <a:latin typeface="Aptos Display"/>
              </a:defRPr>
            </a:pPr>
            <a:r>
              <a:rPr sz="3000" b="1" i="0">
                <a:solidFill>
                  <a:srgbClr val="122A4C"/>
                </a:solidFill>
                <a:latin typeface="Calibri"/>
              </a:rPr>
              <a:t>System Architecture / Block Diagram</a:t>
            </a:r>
          </a:p>
        </p:txBody>
      </p:sp>
      <p:sp>
        <p:nvSpPr>
          <p:cNvPr id="4" name="TextBox 3"/>
          <p:cNvSpPr txBox="1"/>
          <p:nvPr/>
        </p:nvSpPr>
        <p:spPr>
          <a:xfrm>
            <a:off x="11155680" y="6309360"/>
            <a:ext cx="457200" cy="274320"/>
          </a:xfrm>
          <a:prstGeom prst="rect">
            <a:avLst/>
          </a:prstGeom>
          <a:noFill/>
        </p:spPr>
        <p:txBody>
          <a:bodyPr wrap="none"/>
          <a:lstStyle/>
          <a:p>
            <a:pPr algn="r">
              <a:defRPr sz="1000">
                <a:solidFill>
                  <a:srgbClr val="697887"/>
                </a:solidFill>
                <a:latin typeface="Aptos"/>
              </a:defRPr>
            </a:pPr>
            <a:r>
              <a:rPr sz="1000" b="0" i="0">
                <a:solidFill>
                  <a:srgbClr val="697887"/>
                </a:solidFill>
                <a:latin typeface="Calibri"/>
              </a:rPr>
              <a:t>7</a:t>
            </a:r>
          </a:p>
        </p:txBody>
      </p:sp>
      <p:sp>
        <p:nvSpPr>
          <p:cNvPr id="5" name="Rounded Rectangle 4"/>
          <p:cNvSpPr/>
          <p:nvPr/>
        </p:nvSpPr>
        <p:spPr>
          <a:xfrm>
            <a:off x="548640" y="1371600"/>
            <a:ext cx="2743200" cy="1737360"/>
          </a:xfrm>
          <a:prstGeom prst="roundRect">
            <a:avLst>
              <a:gd name="adj" fmla="val 8000"/>
            </a:avLst>
          </a:prstGeom>
          <a:solidFill>
            <a:srgbClr val="DCE9F6"/>
          </a:solidFill>
          <a:ln w="12700">
            <a:solidFill>
              <a:srgbClr val="D2DEEB"/>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spcAft>
                <a:spcPts val="400"/>
              </a:spcAft>
            </a:pPr>
            <a:r>
              <a:rPr sz="1700" b="1" i="0">
                <a:solidFill>
                  <a:srgbClr val="122A4C"/>
                </a:solidFill>
                <a:latin typeface="Calibri"/>
              </a:rPr>
              <a:t>Driver's phone</a:t>
            </a:r>
          </a:p>
          <a:p>
            <a:pPr algn="ctr"/>
            <a:r>
              <a:rPr sz="1300" b="0" i="0">
                <a:solidFill>
                  <a:srgbClr val="1E2328"/>
                </a:solidFill>
                <a:latin typeface="Calibri"/>
              </a:rPr>
              <a:t>Expo / React Native app</a:t>
            </a:r>
          </a:p>
          <a:p>
            <a:pPr algn="ctr"/>
            <a:r>
              <a:rPr sz="1300" b="0" i="0">
                <a:solidFill>
                  <a:srgbClr val="1E2328"/>
                </a:solidFill>
                <a:latin typeface="Calibri"/>
              </a:rPr>
              <a:t>expo-location background task</a:t>
            </a:r>
          </a:p>
          <a:p>
            <a:pPr algn="ctr"/>
            <a:r>
              <a:rPr sz="1300" b="0" i="0">
                <a:solidFill>
                  <a:srgbClr val="1E2328"/>
                </a:solidFill>
                <a:latin typeface="Calibri"/>
              </a:rPr>
              <a:t>Alert and crash handling</a:t>
            </a:r>
          </a:p>
        </p:txBody>
      </p:sp>
      <p:sp>
        <p:nvSpPr>
          <p:cNvPr id="6" name="Rounded Rectangle 5"/>
          <p:cNvSpPr/>
          <p:nvPr/>
        </p:nvSpPr>
        <p:spPr>
          <a:xfrm>
            <a:off x="4343400" y="1143000"/>
            <a:ext cx="3520440" cy="3200400"/>
          </a:xfrm>
          <a:prstGeom prst="roundRect">
            <a:avLst>
              <a:gd name="adj" fmla="val 8000"/>
            </a:avLst>
          </a:prstGeom>
          <a:solidFill>
            <a:srgbClr val="122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343400" y="1207008"/>
            <a:ext cx="3520440" cy="365760"/>
          </a:xfrm>
          <a:prstGeom prst="rect">
            <a:avLst/>
          </a:prstGeom>
          <a:noFill/>
        </p:spPr>
        <p:txBody>
          <a:bodyPr wrap="square" anchor="t" lIns="0" rIns="0" tIns="0" bIns="0">
            <a:spAutoFit/>
          </a:bodyPr>
          <a:lstStyle/>
          <a:p>
            <a:pPr algn="ctr"/>
            <a:r>
              <a:rPr sz="1900" b="1" i="0">
                <a:solidFill>
                  <a:srgbClr val="FFFFFF"/>
                </a:solidFill>
                <a:latin typeface="Calibri"/>
              </a:rPr>
              <a:t>Supabase</a:t>
            </a:r>
          </a:p>
        </p:txBody>
      </p:sp>
      <p:sp>
        <p:nvSpPr>
          <p:cNvPr id="8" name="Rounded Rectangle 7"/>
          <p:cNvSpPr/>
          <p:nvPr/>
        </p:nvSpPr>
        <p:spPr>
          <a:xfrm>
            <a:off x="4526280" y="1600200"/>
            <a:ext cx="3154680" cy="5486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1" i="0">
                <a:solidFill>
                  <a:srgbClr val="122A4C"/>
                </a:solidFill>
                <a:latin typeface="Calibri"/>
              </a:rPr>
              <a:t>Auth + RLS policies</a:t>
            </a:r>
          </a:p>
        </p:txBody>
      </p:sp>
      <p:sp>
        <p:nvSpPr>
          <p:cNvPr id="9" name="Rounded Rectangle 8"/>
          <p:cNvSpPr/>
          <p:nvPr/>
        </p:nvSpPr>
        <p:spPr>
          <a:xfrm>
            <a:off x="4526280" y="2194560"/>
            <a:ext cx="3154680" cy="5486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1" i="0">
                <a:solidFill>
                  <a:srgbClr val="122A4C"/>
                </a:solidFill>
                <a:latin typeface="Calibri"/>
              </a:rPr>
              <a:t>Postgres: vehicle_positions, history, violations, alerts</a:t>
            </a:r>
          </a:p>
        </p:txBody>
      </p:sp>
      <p:sp>
        <p:nvSpPr>
          <p:cNvPr id="10" name="Rounded Rectangle 9"/>
          <p:cNvSpPr/>
          <p:nvPr/>
        </p:nvSpPr>
        <p:spPr>
          <a:xfrm>
            <a:off x="4526280" y="2880360"/>
            <a:ext cx="3154680" cy="5486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1" i="0">
                <a:solidFill>
                  <a:srgbClr val="122A4C"/>
                </a:solidFill>
                <a:latin typeface="Calibri"/>
              </a:rPr>
              <a:t>Triggers and constraints</a:t>
            </a:r>
          </a:p>
        </p:txBody>
      </p:sp>
      <p:sp>
        <p:nvSpPr>
          <p:cNvPr id="11" name="Rounded Rectangle 10"/>
          <p:cNvSpPr/>
          <p:nvPr/>
        </p:nvSpPr>
        <p:spPr>
          <a:xfrm>
            <a:off x="4526280" y="3566160"/>
            <a:ext cx="3154680" cy="5486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1" i="0">
                <a:solidFill>
                  <a:srgbClr val="122A4C"/>
                </a:solidFill>
                <a:latin typeface="Calibri"/>
              </a:rPr>
              <a:t>Realtime  |  Edge Functions</a:t>
            </a:r>
          </a:p>
        </p:txBody>
      </p:sp>
      <p:sp>
        <p:nvSpPr>
          <p:cNvPr id="12" name="Rounded Rectangle 11"/>
          <p:cNvSpPr/>
          <p:nvPr/>
        </p:nvSpPr>
        <p:spPr>
          <a:xfrm>
            <a:off x="8915400" y="1371600"/>
            <a:ext cx="2743200" cy="1737360"/>
          </a:xfrm>
          <a:prstGeom prst="roundRect">
            <a:avLst>
              <a:gd name="adj" fmla="val 8000"/>
            </a:avLst>
          </a:prstGeom>
          <a:solidFill>
            <a:srgbClr val="DCE9F6"/>
          </a:solidFill>
          <a:ln w="12700">
            <a:solidFill>
              <a:srgbClr val="D2DEEB"/>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spcAft>
                <a:spcPts val="400"/>
              </a:spcAft>
            </a:pPr>
            <a:r>
              <a:rPr sz="1700" b="1" i="0">
                <a:solidFill>
                  <a:srgbClr val="122A4C"/>
                </a:solidFill>
                <a:latin typeface="Calibri"/>
              </a:rPr>
              <a:t>Operator / driver console</a:t>
            </a:r>
          </a:p>
          <a:p>
            <a:pPr algn="ctr"/>
            <a:r>
              <a:rPr sz="1300" b="0" i="0">
                <a:solidFill>
                  <a:srgbClr val="1E2328"/>
                </a:solidFill>
                <a:latin typeface="Calibri"/>
              </a:rPr>
              <a:t>Vanilla JS web app</a:t>
            </a:r>
          </a:p>
          <a:p>
            <a:pPr algn="ctr"/>
            <a:r>
              <a:rPr sz="1300" b="0" i="0">
                <a:solidFill>
                  <a:srgbClr val="1E2328"/>
                </a:solidFill>
                <a:latin typeface="Calibri"/>
              </a:rPr>
              <a:t>MapLibre GL live map</a:t>
            </a:r>
          </a:p>
          <a:p>
            <a:pPr algn="ctr"/>
            <a:r>
              <a:rPr sz="1300" b="0" i="0">
                <a:solidFill>
                  <a:srgbClr val="1E2328"/>
                </a:solidFill>
                <a:latin typeface="Calibri"/>
              </a:rPr>
              <a:t>History, violations, alerts</a:t>
            </a:r>
          </a:p>
        </p:txBody>
      </p:sp>
      <p:cxnSp>
        <p:nvCxnSpPr>
          <p:cNvPr id="13" name="Connector 12"/>
          <p:cNvCxnSpPr/>
          <p:nvPr/>
        </p:nvCxnSpPr>
        <p:spPr>
          <a:xfrm>
            <a:off x="3291840" y="1874519"/>
            <a:ext cx="1051560" cy="0"/>
          </a:xfrm>
          <a:prstGeom prst="line">
            <a:avLst/>
          </a:prstGeom>
          <a:ln w="28575">
            <a:solidFill>
              <a:srgbClr val="2463A0"/>
            </a:solidFill>
            <a:tailEnd type="triangle"/>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3291840" y="1463040"/>
            <a:ext cx="1051560" cy="274320"/>
          </a:xfrm>
          <a:prstGeom prst="rect">
            <a:avLst/>
          </a:prstGeom>
          <a:noFill/>
        </p:spPr>
        <p:txBody>
          <a:bodyPr wrap="square" anchor="t" lIns="0" rIns="0" tIns="0" bIns="0">
            <a:spAutoFit/>
          </a:bodyPr>
          <a:lstStyle/>
          <a:p>
            <a:pPr algn="ctr"/>
            <a:r>
              <a:rPr sz="1200" b="0" i="0">
                <a:solidFill>
                  <a:srgbClr val="2463A0"/>
                </a:solidFill>
                <a:latin typeface="Calibri"/>
              </a:rPr>
              <a:t>position</a:t>
            </a:r>
          </a:p>
        </p:txBody>
      </p:sp>
      <p:cxnSp>
        <p:nvCxnSpPr>
          <p:cNvPr id="15" name="Connector 14"/>
          <p:cNvCxnSpPr/>
          <p:nvPr/>
        </p:nvCxnSpPr>
        <p:spPr>
          <a:xfrm flipH="1">
            <a:off x="3291840" y="2606040"/>
            <a:ext cx="1051560" cy="0"/>
          </a:xfrm>
          <a:prstGeom prst="line">
            <a:avLst/>
          </a:prstGeom>
          <a:ln w="28575">
            <a:solidFill>
              <a:srgbClr val="2463A0"/>
            </a:solidFill>
            <a:tailEnd type="triangle"/>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3291840" y="2651760"/>
            <a:ext cx="1051560" cy="274320"/>
          </a:xfrm>
          <a:prstGeom prst="rect">
            <a:avLst/>
          </a:prstGeom>
          <a:noFill/>
        </p:spPr>
        <p:txBody>
          <a:bodyPr wrap="square" anchor="t" lIns="0" rIns="0" tIns="0" bIns="0">
            <a:spAutoFit/>
          </a:bodyPr>
          <a:lstStyle/>
          <a:p>
            <a:pPr algn="ctr"/>
            <a:r>
              <a:rPr sz="1200" b="0" i="0">
                <a:solidFill>
                  <a:srgbClr val="2463A0"/>
                </a:solidFill>
                <a:latin typeface="Calibri"/>
              </a:rPr>
              <a:t>alerts</a:t>
            </a:r>
          </a:p>
        </p:txBody>
      </p:sp>
      <p:cxnSp>
        <p:nvCxnSpPr>
          <p:cNvPr id="17" name="Connector 16"/>
          <p:cNvCxnSpPr/>
          <p:nvPr/>
        </p:nvCxnSpPr>
        <p:spPr>
          <a:xfrm>
            <a:off x="7863840" y="1874519"/>
            <a:ext cx="1051560" cy="0"/>
          </a:xfrm>
          <a:prstGeom prst="line">
            <a:avLst/>
          </a:prstGeom>
          <a:ln w="28575">
            <a:solidFill>
              <a:srgbClr val="2463A0"/>
            </a:solidFill>
            <a:tailEnd type="triangle"/>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863840" y="1463040"/>
            <a:ext cx="1051560" cy="274320"/>
          </a:xfrm>
          <a:prstGeom prst="rect">
            <a:avLst/>
          </a:prstGeom>
          <a:noFill/>
        </p:spPr>
        <p:txBody>
          <a:bodyPr wrap="square" anchor="t" lIns="0" rIns="0" tIns="0" bIns="0">
            <a:spAutoFit/>
          </a:bodyPr>
          <a:lstStyle/>
          <a:p>
            <a:pPr algn="ctr"/>
            <a:r>
              <a:rPr sz="1200" b="0" i="0">
                <a:solidFill>
                  <a:srgbClr val="2463A0"/>
                </a:solidFill>
                <a:latin typeface="Calibri"/>
              </a:rPr>
              <a:t>live updates</a:t>
            </a:r>
          </a:p>
        </p:txBody>
      </p:sp>
      <p:cxnSp>
        <p:nvCxnSpPr>
          <p:cNvPr id="19" name="Connector 18"/>
          <p:cNvCxnSpPr/>
          <p:nvPr/>
        </p:nvCxnSpPr>
        <p:spPr>
          <a:xfrm flipH="1">
            <a:off x="7863840" y="2606040"/>
            <a:ext cx="1051560" cy="0"/>
          </a:xfrm>
          <a:prstGeom prst="line">
            <a:avLst/>
          </a:prstGeom>
          <a:ln w="28575">
            <a:solidFill>
              <a:srgbClr val="2463A0"/>
            </a:solidFill>
            <a:tailEnd type="triangle"/>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7863840" y="2651760"/>
            <a:ext cx="1051560" cy="274320"/>
          </a:xfrm>
          <a:prstGeom prst="rect">
            <a:avLst/>
          </a:prstGeom>
          <a:noFill/>
        </p:spPr>
        <p:txBody>
          <a:bodyPr wrap="square" anchor="t" lIns="0" rIns="0" tIns="0" bIns="0">
            <a:spAutoFit/>
          </a:bodyPr>
          <a:lstStyle/>
          <a:p>
            <a:pPr algn="ctr"/>
            <a:r>
              <a:rPr sz="1200" b="0" i="0">
                <a:solidFill>
                  <a:srgbClr val="2463A0"/>
                </a:solidFill>
                <a:latin typeface="Calibri"/>
              </a:rPr>
              <a:t>alerts sent</a:t>
            </a:r>
          </a:p>
        </p:txBody>
      </p:sp>
      <p:sp>
        <p:nvSpPr>
          <p:cNvPr id="21" name="Rounded Rectangle 20"/>
          <p:cNvSpPr/>
          <p:nvPr/>
        </p:nvSpPr>
        <p:spPr>
          <a:xfrm>
            <a:off x="4023360" y="4892040"/>
            <a:ext cx="1783080" cy="960120"/>
          </a:xfrm>
          <a:prstGeom prst="roundRect">
            <a:avLst>
              <a:gd name="adj" fmla="val 8000"/>
            </a:avLst>
          </a:prstGeom>
          <a:solidFill>
            <a:srgbClr val="F1F6FB"/>
          </a:solidFill>
          <a:ln w="12700">
            <a:solidFill>
              <a:srgbClr val="D2DEEB"/>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spcAft>
                <a:spcPts val="400"/>
              </a:spcAft>
            </a:pPr>
            <a:r>
              <a:rPr sz="1700" b="1" i="0">
                <a:solidFill>
                  <a:srgbClr val="122A4C"/>
                </a:solidFill>
                <a:latin typeface="Calibri"/>
              </a:rPr>
              <a:t>OSRM</a:t>
            </a:r>
          </a:p>
          <a:p>
            <a:pPr algn="ctr"/>
            <a:r>
              <a:rPr sz="1300" b="0" i="0">
                <a:solidFill>
                  <a:srgbClr val="1E2328"/>
                </a:solidFill>
                <a:latin typeface="Calibri"/>
              </a:rPr>
              <a:t>routing</a:t>
            </a:r>
          </a:p>
        </p:txBody>
      </p:sp>
      <p:sp>
        <p:nvSpPr>
          <p:cNvPr id="22" name="Rounded Rectangle 21"/>
          <p:cNvSpPr/>
          <p:nvPr/>
        </p:nvSpPr>
        <p:spPr>
          <a:xfrm>
            <a:off x="5897880" y="4892040"/>
            <a:ext cx="1783080" cy="960120"/>
          </a:xfrm>
          <a:prstGeom prst="roundRect">
            <a:avLst>
              <a:gd name="adj" fmla="val 8000"/>
            </a:avLst>
          </a:prstGeom>
          <a:solidFill>
            <a:srgbClr val="F1F6FB"/>
          </a:solidFill>
          <a:ln w="12700">
            <a:solidFill>
              <a:srgbClr val="D2DEEB"/>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spcAft>
                <a:spcPts val="400"/>
              </a:spcAft>
            </a:pPr>
            <a:r>
              <a:rPr sz="1700" b="1" i="0">
                <a:solidFill>
                  <a:srgbClr val="122A4C"/>
                </a:solidFill>
                <a:latin typeface="Calibri"/>
              </a:rPr>
              <a:t>Nominatim</a:t>
            </a:r>
          </a:p>
          <a:p>
            <a:pPr algn="ctr"/>
            <a:r>
              <a:rPr sz="1300" b="0" i="0">
                <a:solidFill>
                  <a:srgbClr val="1E2328"/>
                </a:solidFill>
                <a:latin typeface="Calibri"/>
              </a:rPr>
              <a:t>geocoding</a:t>
            </a:r>
          </a:p>
        </p:txBody>
      </p:sp>
      <p:sp>
        <p:nvSpPr>
          <p:cNvPr id="23" name="Rounded Rectangle 22"/>
          <p:cNvSpPr/>
          <p:nvPr/>
        </p:nvSpPr>
        <p:spPr>
          <a:xfrm>
            <a:off x="8686800" y="4892040"/>
            <a:ext cx="2971800" cy="960120"/>
          </a:xfrm>
          <a:prstGeom prst="roundRect">
            <a:avLst>
              <a:gd name="adj" fmla="val 8000"/>
            </a:avLst>
          </a:prstGeom>
          <a:solidFill>
            <a:srgbClr val="F1F6FB"/>
          </a:solidFill>
          <a:ln w="12700">
            <a:solidFill>
              <a:srgbClr val="D2DEEB"/>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spcAft>
                <a:spcPts val="400"/>
              </a:spcAft>
            </a:pPr>
            <a:r>
              <a:rPr sz="1700" b="1" i="0">
                <a:solidFill>
                  <a:srgbClr val="122A4C"/>
                </a:solidFill>
                <a:latin typeface="Calibri"/>
              </a:rPr>
              <a:t>OpenFreeMap tiles</a:t>
            </a:r>
          </a:p>
          <a:p>
            <a:pPr algn="ctr"/>
            <a:r>
              <a:rPr sz="1300" b="0" i="0">
                <a:solidFill>
                  <a:srgbClr val="1E2328"/>
                </a:solidFill>
                <a:latin typeface="Calibri"/>
              </a:rPr>
              <a:t>OpenStreetMap data, no key</a:t>
            </a:r>
          </a:p>
        </p:txBody>
      </p:sp>
      <p:cxnSp>
        <p:nvCxnSpPr>
          <p:cNvPr id="24" name="Connector 23"/>
          <p:cNvCxnSpPr/>
          <p:nvPr/>
        </p:nvCxnSpPr>
        <p:spPr>
          <a:xfrm flipH="1">
            <a:off x="4937760" y="4343400"/>
            <a:ext cx="868680" cy="548640"/>
          </a:xfrm>
          <a:prstGeom prst="line">
            <a:avLst/>
          </a:prstGeom>
          <a:ln w="28575">
            <a:solidFill>
              <a:srgbClr val="2463A0"/>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6355080" y="4343400"/>
            <a:ext cx="411480" cy="548640"/>
          </a:xfrm>
          <a:prstGeom prst="line">
            <a:avLst/>
          </a:prstGeom>
          <a:ln w="28575">
            <a:solidFill>
              <a:srgbClr val="2463A0"/>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9966960" y="3108960"/>
            <a:ext cx="182880" cy="1783080"/>
          </a:xfrm>
          <a:prstGeom prst="line">
            <a:avLst/>
          </a:prstGeom>
          <a:ln w="28575">
            <a:solidFill>
              <a:srgbClr val="2463A0"/>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10195560" y="3749039"/>
            <a:ext cx="1463040" cy="548640"/>
          </a:xfrm>
          <a:prstGeom prst="rect">
            <a:avLst/>
          </a:prstGeom>
          <a:noFill/>
        </p:spPr>
        <p:txBody>
          <a:bodyPr wrap="square" anchor="t" lIns="0" rIns="0" tIns="0" bIns="0">
            <a:spAutoFit/>
          </a:bodyPr>
          <a:lstStyle/>
          <a:p>
            <a:pPr algn="l"/>
            <a:r>
              <a:rPr sz="1100" b="0" i="0">
                <a:solidFill>
                  <a:srgbClr val="2463A0"/>
                </a:solidFill>
                <a:latin typeface="Calibri"/>
              </a:rPr>
              <a:t>tiles fetched
directly</a:t>
            </a:r>
          </a:p>
        </p:txBody>
      </p:sp>
      <p:sp>
        <p:nvSpPr>
          <p:cNvPr id="28" name="TextBox 27"/>
          <p:cNvSpPr txBox="1"/>
          <p:nvPr/>
        </p:nvSpPr>
        <p:spPr>
          <a:xfrm>
            <a:off x="548640" y="4892040"/>
            <a:ext cx="3291840" cy="1005840"/>
          </a:xfrm>
          <a:prstGeom prst="rect">
            <a:avLst/>
          </a:prstGeom>
          <a:noFill/>
        </p:spPr>
        <p:txBody>
          <a:bodyPr wrap="square" anchor="t" lIns="0" rIns="0" tIns="0" bIns="0">
            <a:spAutoFit/>
          </a:bodyPr>
          <a:lstStyle/>
          <a:p>
            <a:pPr algn="l"/>
            <a:r>
              <a:rPr sz="1300" b="0" i="0">
                <a:solidFill>
                  <a:srgbClr val="697887"/>
                </a:solidFill>
                <a:latin typeface="Calibri"/>
              </a:rPr>
              <a:t>Inputs: GPS position, login, operator alerts</a:t>
            </a:r>
          </a:p>
          <a:p>
            <a:pPr algn="l"/>
            <a:r>
              <a:rPr sz="1300" b="0" i="0">
                <a:solidFill>
                  <a:srgbClr val="697887"/>
                </a:solidFill>
                <a:latin typeface="Calibri"/>
              </a:rPr>
              <a:t>Processing: validation, triggers, RLS</a:t>
            </a:r>
          </a:p>
          <a:p>
            <a:pPr algn="l"/>
            <a:r>
              <a:rPr sz="1300" b="0" i="0">
                <a:solidFill>
                  <a:srgbClr val="697887"/>
                </a:solidFill>
                <a:latin typeface="Calibri"/>
              </a:rPr>
              <a:t>Outputs: live map, violations, alerts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46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74320"/>
            <a:ext cx="11000232" cy="640080"/>
          </a:xfrm>
          <a:prstGeom prst="rect">
            <a:avLst/>
          </a:prstGeom>
          <a:noFill/>
        </p:spPr>
        <p:txBody>
          <a:bodyPr wrap="square"/>
          <a:lstStyle/>
          <a:p>
            <a:pPr algn="ctr">
              <a:defRPr sz="2700" b="1">
                <a:solidFill>
                  <a:srgbClr val="122A4C"/>
                </a:solidFill>
                <a:latin typeface="Aptos Display"/>
              </a:defRPr>
            </a:pPr>
            <a:r>
              <a:rPr sz="3000" b="1" i="0">
                <a:solidFill>
                  <a:srgbClr val="122A4C"/>
                </a:solidFill>
                <a:latin typeface="Calibri"/>
              </a:rPr>
              <a:t>Methodology / Workflow</a:t>
            </a:r>
          </a:p>
        </p:txBody>
      </p:sp>
      <p:sp>
        <p:nvSpPr>
          <p:cNvPr id="4" name="TextBox 3"/>
          <p:cNvSpPr txBox="1"/>
          <p:nvPr/>
        </p:nvSpPr>
        <p:spPr>
          <a:xfrm>
            <a:off x="11155680" y="6309360"/>
            <a:ext cx="457200" cy="274320"/>
          </a:xfrm>
          <a:prstGeom prst="rect">
            <a:avLst/>
          </a:prstGeom>
          <a:noFill/>
        </p:spPr>
        <p:txBody>
          <a:bodyPr wrap="none"/>
          <a:lstStyle/>
          <a:p>
            <a:pPr algn="r">
              <a:defRPr sz="1000">
                <a:solidFill>
                  <a:srgbClr val="697887"/>
                </a:solidFill>
                <a:latin typeface="Aptos"/>
              </a:defRPr>
            </a:pPr>
            <a:r>
              <a:rPr sz="1000" b="0" i="0">
                <a:solidFill>
                  <a:srgbClr val="697887"/>
                </a:solidFill>
                <a:latin typeface="Calibri"/>
              </a:rPr>
              <a:t>8</a:t>
            </a:r>
          </a:p>
        </p:txBody>
      </p:sp>
      <p:sp>
        <p:nvSpPr>
          <p:cNvPr id="5" name="Pentagon 4"/>
          <p:cNvSpPr/>
          <p:nvPr/>
        </p:nvSpPr>
        <p:spPr>
          <a:xfrm>
            <a:off x="640080" y="1371600"/>
            <a:ext cx="2606040" cy="822960"/>
          </a:xfrm>
          <a:prstGeom prst="homePlate">
            <a:avLst/>
          </a:prstGeom>
          <a:solidFill>
            <a:srgbClr val="2463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i="0">
                <a:solidFill>
                  <a:srgbClr val="DCE9F6"/>
                </a:solidFill>
                <a:latin typeface="Calibri"/>
              </a:rPr>
              <a:t>Step 1</a:t>
            </a:r>
          </a:p>
          <a:p>
            <a:pPr algn="ctr"/>
            <a:r>
              <a:rPr sz="1600" b="1" i="0">
                <a:solidFill>
                  <a:srgbClr val="FFFFFF"/>
                </a:solidFill>
                <a:latin typeface="Calibri"/>
              </a:rPr>
              <a:t>Input acquisition</a:t>
            </a:r>
          </a:p>
        </p:txBody>
      </p:sp>
      <p:sp>
        <p:nvSpPr>
          <p:cNvPr id="6" name="Rounded Rectangle 5"/>
          <p:cNvSpPr/>
          <p:nvPr/>
        </p:nvSpPr>
        <p:spPr>
          <a:xfrm>
            <a:off x="640080" y="2331720"/>
            <a:ext cx="2468880" cy="2148840"/>
          </a:xfrm>
          <a:prstGeom prst="roundRect">
            <a:avLst>
              <a:gd name="adj" fmla="val 8000"/>
            </a:avLst>
          </a:prstGeom>
          <a:solidFill>
            <a:srgbClr val="F1F6FB"/>
          </a:solidFill>
          <a:ln w="12700">
            <a:solidFill>
              <a:srgbClr val="D2DEEB"/>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l"/>
            <a:r>
              <a:rPr sz="1500" b="0" i="0">
                <a:solidFill>
                  <a:srgbClr val="1E2328"/>
                </a:solidFill>
                <a:latin typeface="Calibri"/>
              </a:rPr>
              <a:t>Driver signs in; the app reads own vehicles (RLS) and starts a background GPS task.</a:t>
            </a:r>
          </a:p>
        </p:txBody>
      </p:sp>
      <p:sp>
        <p:nvSpPr>
          <p:cNvPr id="7" name="Pentagon 6"/>
          <p:cNvSpPr/>
          <p:nvPr/>
        </p:nvSpPr>
        <p:spPr>
          <a:xfrm>
            <a:off x="3429000" y="1371600"/>
            <a:ext cx="2606040" cy="822960"/>
          </a:xfrm>
          <a:prstGeom prst="homePlate">
            <a:avLst/>
          </a:prstGeom>
          <a:solidFill>
            <a:srgbClr val="122A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i="0">
                <a:solidFill>
                  <a:srgbClr val="DCE9F6"/>
                </a:solidFill>
                <a:latin typeface="Calibri"/>
              </a:rPr>
              <a:t>Step 2</a:t>
            </a:r>
          </a:p>
          <a:p>
            <a:pPr algn="ctr"/>
            <a:r>
              <a:rPr sz="1600" b="1" i="0">
                <a:solidFill>
                  <a:srgbClr val="FFFFFF"/>
                </a:solidFill>
                <a:latin typeface="Calibri"/>
              </a:rPr>
              <a:t>Core processing</a:t>
            </a:r>
          </a:p>
        </p:txBody>
      </p:sp>
      <p:sp>
        <p:nvSpPr>
          <p:cNvPr id="8" name="Rounded Rectangle 7"/>
          <p:cNvSpPr/>
          <p:nvPr/>
        </p:nvSpPr>
        <p:spPr>
          <a:xfrm>
            <a:off x="3429000" y="2331720"/>
            <a:ext cx="2468880" cy="2148840"/>
          </a:xfrm>
          <a:prstGeom prst="roundRect">
            <a:avLst>
              <a:gd name="adj" fmla="val 8000"/>
            </a:avLst>
          </a:prstGeom>
          <a:solidFill>
            <a:srgbClr val="F1F6FB"/>
          </a:solidFill>
          <a:ln w="12700">
            <a:solidFill>
              <a:srgbClr val="D2DEEB"/>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l"/>
            <a:r>
              <a:rPr sz="1500" b="0" i="0">
                <a:solidFill>
                  <a:srgbClr val="1E2328"/>
                </a:solidFill>
                <a:latin typeface="Calibri"/>
              </a:rPr>
              <a:t>Position is upserted every 1 s or 3 s; range checks on latitude, longitude, speed and heading run in the database.</a:t>
            </a:r>
          </a:p>
        </p:txBody>
      </p:sp>
      <p:sp>
        <p:nvSpPr>
          <p:cNvPr id="9" name="Pentagon 8"/>
          <p:cNvSpPr/>
          <p:nvPr/>
        </p:nvSpPr>
        <p:spPr>
          <a:xfrm>
            <a:off x="6217920" y="1371600"/>
            <a:ext cx="2606040" cy="822960"/>
          </a:xfrm>
          <a:prstGeom prst="homePlate">
            <a:avLst/>
          </a:prstGeom>
          <a:solidFill>
            <a:srgbClr val="2463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i="0">
                <a:solidFill>
                  <a:srgbClr val="DCE9F6"/>
                </a:solidFill>
                <a:latin typeface="Calibri"/>
              </a:rPr>
              <a:t>Step 3</a:t>
            </a:r>
          </a:p>
          <a:p>
            <a:pPr algn="ctr"/>
            <a:r>
              <a:rPr sz="1600" b="1" i="0">
                <a:solidFill>
                  <a:srgbClr val="FFFFFF"/>
                </a:solidFill>
                <a:latin typeface="Calibri"/>
              </a:rPr>
              <a:t>Business logic</a:t>
            </a:r>
          </a:p>
        </p:txBody>
      </p:sp>
      <p:sp>
        <p:nvSpPr>
          <p:cNvPr id="10" name="Rounded Rectangle 9"/>
          <p:cNvSpPr/>
          <p:nvPr/>
        </p:nvSpPr>
        <p:spPr>
          <a:xfrm>
            <a:off x="6217920" y="2331720"/>
            <a:ext cx="2468880" cy="2148840"/>
          </a:xfrm>
          <a:prstGeom prst="roundRect">
            <a:avLst>
              <a:gd name="adj" fmla="val 8000"/>
            </a:avLst>
          </a:prstGeom>
          <a:solidFill>
            <a:srgbClr val="F1F6FB"/>
          </a:solidFill>
          <a:ln w="12700">
            <a:solidFill>
              <a:srgbClr val="D2DEEB"/>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l"/>
            <a:r>
              <a:rPr sz="1500" b="0" i="0">
                <a:solidFill>
                  <a:srgbClr val="1E2328"/>
                </a:solidFill>
                <a:latin typeface="Calibri"/>
              </a:rPr>
              <a:t>Triggers append history and open or close speeding episodes, closing at 5 km/h under the limit.</a:t>
            </a:r>
          </a:p>
        </p:txBody>
      </p:sp>
      <p:sp>
        <p:nvSpPr>
          <p:cNvPr id="11" name="Pentagon 10"/>
          <p:cNvSpPr/>
          <p:nvPr/>
        </p:nvSpPr>
        <p:spPr>
          <a:xfrm>
            <a:off x="9006840" y="1371600"/>
            <a:ext cx="2606040" cy="822960"/>
          </a:xfrm>
          <a:prstGeom prst="homePlate">
            <a:avLst/>
          </a:prstGeom>
          <a:solidFill>
            <a:srgbClr val="122A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i="0">
                <a:solidFill>
                  <a:srgbClr val="DCE9F6"/>
                </a:solidFill>
                <a:latin typeface="Calibri"/>
              </a:rPr>
              <a:t>Step 4</a:t>
            </a:r>
          </a:p>
          <a:p>
            <a:pPr algn="ctr"/>
            <a:r>
              <a:rPr sz="1600" b="1" i="0">
                <a:solidFill>
                  <a:srgbClr val="FFFFFF"/>
                </a:solidFill>
                <a:latin typeface="Calibri"/>
              </a:rPr>
              <a:t>Output &amp; evaluation</a:t>
            </a:r>
          </a:p>
        </p:txBody>
      </p:sp>
      <p:sp>
        <p:nvSpPr>
          <p:cNvPr id="12" name="Rounded Rectangle 11"/>
          <p:cNvSpPr/>
          <p:nvPr/>
        </p:nvSpPr>
        <p:spPr>
          <a:xfrm>
            <a:off x="9006840" y="2331720"/>
            <a:ext cx="2468880" cy="2148840"/>
          </a:xfrm>
          <a:prstGeom prst="roundRect">
            <a:avLst>
              <a:gd name="adj" fmla="val 8000"/>
            </a:avLst>
          </a:prstGeom>
          <a:solidFill>
            <a:srgbClr val="F1F6FB"/>
          </a:solidFill>
          <a:ln w="12700">
            <a:solidFill>
              <a:srgbClr val="D2DEEB"/>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l"/>
            <a:r>
              <a:rPr sz="1500" b="0" i="0">
                <a:solidFill>
                  <a:srgbClr val="1E2328"/>
                </a:solidFill>
                <a:latin typeface="Calibri"/>
              </a:rPr>
              <a:t>Realtime pushes to the console; operators send alerts. Verified with automated tests.</a:t>
            </a:r>
          </a:p>
        </p:txBody>
      </p:sp>
      <p:sp>
        <p:nvSpPr>
          <p:cNvPr id="13" name="Rounded Rectangle 12"/>
          <p:cNvSpPr/>
          <p:nvPr/>
        </p:nvSpPr>
        <p:spPr>
          <a:xfrm>
            <a:off x="640080" y="4754880"/>
            <a:ext cx="10927080" cy="1325880"/>
          </a:xfrm>
          <a:prstGeom prst="roundRect">
            <a:avLst>
              <a:gd name="adj" fmla="val 8000"/>
            </a:avLst>
          </a:prstGeom>
          <a:solidFill>
            <a:srgbClr val="DCE9F6"/>
          </a:solidFill>
          <a:ln w="12700">
            <a:solidFill>
              <a:srgbClr val="D2DEE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spcAft>
                <a:spcPts val="300"/>
              </a:spcAft>
            </a:pPr>
            <a:r>
              <a:rPr sz="1700" b="1" i="0">
                <a:solidFill>
                  <a:srgbClr val="122A4C"/>
                </a:solidFill>
                <a:latin typeface="Calibri"/>
              </a:rPr>
              <a:t>Validation methodology</a:t>
            </a:r>
          </a:p>
          <a:p>
            <a:pPr algn="l"/>
            <a:r>
              <a:rPr sz="1500" b="0" i="0">
                <a:solidFill>
                  <a:srgbClr val="1E2328"/>
                </a:solidFill>
                <a:latin typeface="Calibri"/>
              </a:rPr>
              <a:t>Schema and RLS tests run on PGlite (Postgres compiled to WASM, no Docker or hosted database): 85 tests. The mobile app has 54 unit tests plus a type-check; the runner is pinned to one test file at a time to avoid running out of memory.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46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74320"/>
            <a:ext cx="11000232" cy="640080"/>
          </a:xfrm>
          <a:prstGeom prst="rect">
            <a:avLst/>
          </a:prstGeom>
          <a:noFill/>
        </p:spPr>
        <p:txBody>
          <a:bodyPr wrap="square"/>
          <a:lstStyle/>
          <a:p>
            <a:pPr algn="ctr">
              <a:defRPr sz="2700" b="1">
                <a:solidFill>
                  <a:srgbClr val="122A4C"/>
                </a:solidFill>
                <a:latin typeface="Aptos Display"/>
              </a:defRPr>
            </a:pPr>
            <a:r>
              <a:rPr sz="3000" b="1" i="0">
                <a:solidFill>
                  <a:srgbClr val="122A4C"/>
                </a:solidFill>
                <a:latin typeface="Calibri"/>
              </a:rPr>
              <a:t>Technology Stack</a:t>
            </a:r>
          </a:p>
        </p:txBody>
      </p:sp>
      <p:sp>
        <p:nvSpPr>
          <p:cNvPr id="4" name="TextBox 3"/>
          <p:cNvSpPr txBox="1"/>
          <p:nvPr/>
        </p:nvSpPr>
        <p:spPr>
          <a:xfrm>
            <a:off x="11155680" y="6309360"/>
            <a:ext cx="457200" cy="274320"/>
          </a:xfrm>
          <a:prstGeom prst="rect">
            <a:avLst/>
          </a:prstGeom>
          <a:noFill/>
        </p:spPr>
        <p:txBody>
          <a:bodyPr wrap="none"/>
          <a:lstStyle/>
          <a:p>
            <a:pPr algn="r">
              <a:defRPr sz="1000">
                <a:solidFill>
                  <a:srgbClr val="697887"/>
                </a:solidFill>
                <a:latin typeface="Aptos"/>
              </a:defRPr>
            </a:pPr>
            <a:r>
              <a:rPr sz="1000" b="0" i="0">
                <a:solidFill>
                  <a:srgbClr val="697887"/>
                </a:solidFill>
                <a:latin typeface="Calibri"/>
              </a:rPr>
              <a:t>9</a:t>
            </a:r>
          </a:p>
        </p:txBody>
      </p:sp>
      <p:sp>
        <p:nvSpPr>
          <p:cNvPr id="5" name="Rounded Rectangle 4"/>
          <p:cNvSpPr/>
          <p:nvPr/>
        </p:nvSpPr>
        <p:spPr>
          <a:xfrm>
            <a:off x="685800" y="1280160"/>
            <a:ext cx="5303520" cy="2194560"/>
          </a:xfrm>
          <a:prstGeom prst="roundRect">
            <a:avLst>
              <a:gd name="adj" fmla="val 8000"/>
            </a:avLst>
          </a:prstGeom>
          <a:solidFill>
            <a:srgbClr val="F1F6FB"/>
          </a:solidFill>
          <a:ln w="12700">
            <a:solidFill>
              <a:srgbClr val="D2DE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14400" y="1508760"/>
            <a:ext cx="457200" cy="457200"/>
          </a:xfrm>
          <a:prstGeom prst="ellipse">
            <a:avLst/>
          </a:prstGeom>
          <a:solidFill>
            <a:srgbClr val="2463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500" b="1" i="0">
                <a:solidFill>
                  <a:srgbClr val="FFFFFF"/>
                </a:solidFill>
                <a:latin typeface="Calibri"/>
              </a:rPr>
              <a:t>1</a:t>
            </a:r>
          </a:p>
        </p:txBody>
      </p:sp>
      <p:sp>
        <p:nvSpPr>
          <p:cNvPr id="7" name="TextBox 6"/>
          <p:cNvSpPr txBox="1"/>
          <p:nvPr/>
        </p:nvSpPr>
        <p:spPr>
          <a:xfrm>
            <a:off x="1554480" y="1527048"/>
            <a:ext cx="4206240" cy="457200"/>
          </a:xfrm>
          <a:prstGeom prst="rect">
            <a:avLst/>
          </a:prstGeom>
          <a:noFill/>
        </p:spPr>
        <p:txBody>
          <a:bodyPr wrap="square" anchor="t" lIns="0" rIns="0" tIns="0" bIns="0">
            <a:spAutoFit/>
          </a:bodyPr>
          <a:lstStyle/>
          <a:p>
            <a:pPr algn="l"/>
            <a:r>
              <a:rPr sz="2000" b="1" i="0">
                <a:solidFill>
                  <a:srgbClr val="122A4C"/>
                </a:solidFill>
                <a:latin typeface="Calibri"/>
              </a:rPr>
              <a:t>Programming languages</a:t>
            </a:r>
          </a:p>
        </p:txBody>
      </p:sp>
      <p:sp>
        <p:nvSpPr>
          <p:cNvPr id="8" name="TextBox 7"/>
          <p:cNvSpPr txBox="1"/>
          <p:nvPr/>
        </p:nvSpPr>
        <p:spPr>
          <a:xfrm>
            <a:off x="960120" y="2148839"/>
            <a:ext cx="4800600" cy="1280160"/>
          </a:xfrm>
          <a:prstGeom prst="rect">
            <a:avLst/>
          </a:prstGeom>
          <a:noFill/>
        </p:spPr>
        <p:txBody>
          <a:bodyPr wrap="square" anchor="t" lIns="0" rIns="0" tIns="0" bIns="0">
            <a:spAutoFit/>
          </a:bodyPr>
          <a:lstStyle/>
          <a:p>
            <a:pPr algn="l"/>
            <a:r>
              <a:rPr sz="1900" b="0" i="0">
                <a:solidFill>
                  <a:srgbClr val="1E2328"/>
                </a:solidFill>
                <a:latin typeface="Calibri"/>
              </a:rPr>
              <a:t>TypeScript / JavaScript (mobile and console), SQL and PL/pgSQL (database), Edge Functions</a:t>
            </a:r>
          </a:p>
        </p:txBody>
      </p:sp>
      <p:sp>
        <p:nvSpPr>
          <p:cNvPr id="9" name="Rounded Rectangle 8"/>
          <p:cNvSpPr/>
          <p:nvPr/>
        </p:nvSpPr>
        <p:spPr>
          <a:xfrm>
            <a:off x="6172200" y="1280160"/>
            <a:ext cx="5303520" cy="2194560"/>
          </a:xfrm>
          <a:prstGeom prst="roundRect">
            <a:avLst>
              <a:gd name="adj" fmla="val 8000"/>
            </a:avLst>
          </a:prstGeom>
          <a:solidFill>
            <a:srgbClr val="F1F6FB"/>
          </a:solidFill>
          <a:ln w="12700">
            <a:solidFill>
              <a:srgbClr val="D2DE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400800" y="1508760"/>
            <a:ext cx="457200" cy="457200"/>
          </a:xfrm>
          <a:prstGeom prst="ellipse">
            <a:avLst/>
          </a:prstGeom>
          <a:solidFill>
            <a:srgbClr val="2463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500" b="1" i="0">
                <a:solidFill>
                  <a:srgbClr val="FFFFFF"/>
                </a:solidFill>
                <a:latin typeface="Calibri"/>
              </a:rPr>
              <a:t>2</a:t>
            </a:r>
          </a:p>
        </p:txBody>
      </p:sp>
      <p:sp>
        <p:nvSpPr>
          <p:cNvPr id="11" name="TextBox 10"/>
          <p:cNvSpPr txBox="1"/>
          <p:nvPr/>
        </p:nvSpPr>
        <p:spPr>
          <a:xfrm>
            <a:off x="7040880" y="1527048"/>
            <a:ext cx="4206240" cy="457200"/>
          </a:xfrm>
          <a:prstGeom prst="rect">
            <a:avLst/>
          </a:prstGeom>
          <a:noFill/>
        </p:spPr>
        <p:txBody>
          <a:bodyPr wrap="square" anchor="t" lIns="0" rIns="0" tIns="0" bIns="0">
            <a:spAutoFit/>
          </a:bodyPr>
          <a:lstStyle/>
          <a:p>
            <a:pPr algn="l"/>
            <a:r>
              <a:rPr sz="2000" b="1" i="0">
                <a:solidFill>
                  <a:srgbClr val="122A4C"/>
                </a:solidFill>
                <a:latin typeface="Calibri"/>
              </a:rPr>
              <a:t>Frameworks / libraries</a:t>
            </a:r>
          </a:p>
        </p:txBody>
      </p:sp>
      <p:sp>
        <p:nvSpPr>
          <p:cNvPr id="12" name="TextBox 11"/>
          <p:cNvSpPr txBox="1"/>
          <p:nvPr/>
        </p:nvSpPr>
        <p:spPr>
          <a:xfrm>
            <a:off x="6446520" y="2148839"/>
            <a:ext cx="4800600" cy="1280160"/>
          </a:xfrm>
          <a:prstGeom prst="rect">
            <a:avLst/>
          </a:prstGeom>
          <a:noFill/>
        </p:spPr>
        <p:txBody>
          <a:bodyPr wrap="square" anchor="t" lIns="0" rIns="0" tIns="0" bIns="0">
            <a:spAutoFit/>
          </a:bodyPr>
          <a:lstStyle/>
          <a:p>
            <a:pPr algn="l"/>
            <a:r>
              <a:rPr sz="1900" b="0" i="0">
                <a:solidFill>
                  <a:srgbClr val="1E2328"/>
                </a:solidFill>
                <a:latin typeface="Calibri"/>
              </a:rPr>
              <a:t>Expo (React Native), expo-location, expo-router, MapLibre GL, Jest for the app</a:t>
            </a:r>
          </a:p>
        </p:txBody>
      </p:sp>
      <p:sp>
        <p:nvSpPr>
          <p:cNvPr id="13" name="Rounded Rectangle 12"/>
          <p:cNvSpPr/>
          <p:nvPr/>
        </p:nvSpPr>
        <p:spPr>
          <a:xfrm>
            <a:off x="685800" y="3657600"/>
            <a:ext cx="5303520" cy="2194560"/>
          </a:xfrm>
          <a:prstGeom prst="roundRect">
            <a:avLst>
              <a:gd name="adj" fmla="val 8000"/>
            </a:avLst>
          </a:prstGeom>
          <a:solidFill>
            <a:srgbClr val="F1F6FB"/>
          </a:solidFill>
          <a:ln w="12700">
            <a:solidFill>
              <a:srgbClr val="D2DE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3886200"/>
            <a:ext cx="457200" cy="457200"/>
          </a:xfrm>
          <a:prstGeom prst="ellipse">
            <a:avLst/>
          </a:prstGeom>
          <a:solidFill>
            <a:srgbClr val="2463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500" b="1" i="0">
                <a:solidFill>
                  <a:srgbClr val="FFFFFF"/>
                </a:solidFill>
                <a:latin typeface="Calibri"/>
              </a:rPr>
              <a:t>3</a:t>
            </a:r>
          </a:p>
        </p:txBody>
      </p:sp>
      <p:sp>
        <p:nvSpPr>
          <p:cNvPr id="15" name="TextBox 14"/>
          <p:cNvSpPr txBox="1"/>
          <p:nvPr/>
        </p:nvSpPr>
        <p:spPr>
          <a:xfrm>
            <a:off x="1554480" y="3904487"/>
            <a:ext cx="4206240" cy="457200"/>
          </a:xfrm>
          <a:prstGeom prst="rect">
            <a:avLst/>
          </a:prstGeom>
          <a:noFill/>
        </p:spPr>
        <p:txBody>
          <a:bodyPr wrap="square" anchor="t" lIns="0" rIns="0" tIns="0" bIns="0">
            <a:spAutoFit/>
          </a:bodyPr>
          <a:lstStyle/>
          <a:p>
            <a:pPr algn="l"/>
            <a:r>
              <a:rPr sz="2000" b="1" i="0">
                <a:solidFill>
                  <a:srgbClr val="122A4C"/>
                </a:solidFill>
                <a:latin typeface="Calibri"/>
              </a:rPr>
              <a:t>Database / cloud / APIs</a:t>
            </a:r>
          </a:p>
        </p:txBody>
      </p:sp>
      <p:sp>
        <p:nvSpPr>
          <p:cNvPr id="16" name="TextBox 15"/>
          <p:cNvSpPr txBox="1"/>
          <p:nvPr/>
        </p:nvSpPr>
        <p:spPr>
          <a:xfrm>
            <a:off x="960120" y="4526280"/>
            <a:ext cx="4800600" cy="1280160"/>
          </a:xfrm>
          <a:prstGeom prst="rect">
            <a:avLst/>
          </a:prstGeom>
          <a:noFill/>
        </p:spPr>
        <p:txBody>
          <a:bodyPr wrap="square" anchor="t" lIns="0" rIns="0" tIns="0" bIns="0">
            <a:spAutoFit/>
          </a:bodyPr>
          <a:lstStyle/>
          <a:p>
            <a:pPr algn="l"/>
            <a:r>
              <a:rPr sz="1900" b="0" i="0">
                <a:solidFill>
                  <a:srgbClr val="1E2328"/>
                </a:solidFill>
                <a:latin typeface="Calibri"/>
              </a:rPr>
              <a:t>Supabase: Postgres, Auth, Realtime, Edge Functions, pg_cron; OSRM, Nominatim, OpenFreeMap</a:t>
            </a:r>
          </a:p>
        </p:txBody>
      </p:sp>
      <p:sp>
        <p:nvSpPr>
          <p:cNvPr id="17" name="Rounded Rectangle 16"/>
          <p:cNvSpPr/>
          <p:nvPr/>
        </p:nvSpPr>
        <p:spPr>
          <a:xfrm>
            <a:off x="6172200" y="3657600"/>
            <a:ext cx="5303520" cy="2194560"/>
          </a:xfrm>
          <a:prstGeom prst="roundRect">
            <a:avLst>
              <a:gd name="adj" fmla="val 8000"/>
            </a:avLst>
          </a:prstGeom>
          <a:solidFill>
            <a:srgbClr val="F1F6FB"/>
          </a:solidFill>
          <a:ln w="12700">
            <a:solidFill>
              <a:srgbClr val="D2DE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400800" y="3886200"/>
            <a:ext cx="457200" cy="457200"/>
          </a:xfrm>
          <a:prstGeom prst="ellipse">
            <a:avLst/>
          </a:prstGeom>
          <a:solidFill>
            <a:srgbClr val="2463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500" b="1" i="0">
                <a:solidFill>
                  <a:srgbClr val="FFFFFF"/>
                </a:solidFill>
                <a:latin typeface="Calibri"/>
              </a:rPr>
              <a:t>4</a:t>
            </a:r>
          </a:p>
        </p:txBody>
      </p:sp>
      <p:sp>
        <p:nvSpPr>
          <p:cNvPr id="19" name="TextBox 18"/>
          <p:cNvSpPr txBox="1"/>
          <p:nvPr/>
        </p:nvSpPr>
        <p:spPr>
          <a:xfrm>
            <a:off x="7040880" y="3904487"/>
            <a:ext cx="4206240" cy="457200"/>
          </a:xfrm>
          <a:prstGeom prst="rect">
            <a:avLst/>
          </a:prstGeom>
          <a:noFill/>
        </p:spPr>
        <p:txBody>
          <a:bodyPr wrap="square" anchor="t" lIns="0" rIns="0" tIns="0" bIns="0">
            <a:spAutoFit/>
          </a:bodyPr>
          <a:lstStyle/>
          <a:p>
            <a:pPr algn="l"/>
            <a:r>
              <a:rPr sz="2000" b="1" i="0">
                <a:solidFill>
                  <a:srgbClr val="122A4C"/>
                </a:solidFill>
                <a:latin typeface="Calibri"/>
              </a:rPr>
              <a:t>Hardware / tools / platforms</a:t>
            </a:r>
          </a:p>
        </p:txBody>
      </p:sp>
      <p:sp>
        <p:nvSpPr>
          <p:cNvPr id="20" name="TextBox 19"/>
          <p:cNvSpPr txBox="1"/>
          <p:nvPr/>
        </p:nvSpPr>
        <p:spPr>
          <a:xfrm>
            <a:off x="6446520" y="4526280"/>
            <a:ext cx="4800600" cy="1280160"/>
          </a:xfrm>
          <a:prstGeom prst="rect">
            <a:avLst/>
          </a:prstGeom>
          <a:noFill/>
        </p:spPr>
        <p:txBody>
          <a:bodyPr wrap="square" anchor="t" lIns="0" rIns="0" tIns="0" bIns="0">
            <a:spAutoFit/>
          </a:bodyPr>
          <a:lstStyle/>
          <a:p>
            <a:pPr algn="l"/>
            <a:r>
              <a:rPr sz="1900" b="0" i="0">
                <a:solidFill>
                  <a:srgbClr val="1E2328"/>
                </a:solidFill>
                <a:latin typeface="Calibri"/>
              </a:rPr>
              <a:t>Android phone with GPS, EAS Build (APK, four ABIs), PGlite for tests, Git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46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74320"/>
            <a:ext cx="11000232" cy="640080"/>
          </a:xfrm>
          <a:prstGeom prst="rect">
            <a:avLst/>
          </a:prstGeom>
          <a:noFill/>
        </p:spPr>
        <p:txBody>
          <a:bodyPr wrap="square"/>
          <a:lstStyle/>
          <a:p>
            <a:pPr algn="ctr">
              <a:defRPr sz="2700" b="1">
                <a:solidFill>
                  <a:srgbClr val="122A4C"/>
                </a:solidFill>
                <a:latin typeface="Aptos Display"/>
              </a:defRPr>
            </a:pPr>
            <a:r>
              <a:rPr sz="3000" b="1" i="0">
                <a:solidFill>
                  <a:srgbClr val="122A4C"/>
                </a:solidFill>
                <a:latin typeface="Calibri"/>
              </a:rPr>
              <a:t>Dataset / Hardware / Resources</a:t>
            </a:r>
          </a:p>
        </p:txBody>
      </p:sp>
      <p:sp>
        <p:nvSpPr>
          <p:cNvPr id="4" name="TextBox 3"/>
          <p:cNvSpPr txBox="1"/>
          <p:nvPr/>
        </p:nvSpPr>
        <p:spPr>
          <a:xfrm>
            <a:off x="11155680" y="6309360"/>
            <a:ext cx="457200" cy="274320"/>
          </a:xfrm>
          <a:prstGeom prst="rect">
            <a:avLst/>
          </a:prstGeom>
          <a:noFill/>
        </p:spPr>
        <p:txBody>
          <a:bodyPr wrap="none"/>
          <a:lstStyle/>
          <a:p>
            <a:pPr algn="r">
              <a:defRPr sz="1000">
                <a:solidFill>
                  <a:srgbClr val="697887"/>
                </a:solidFill>
                <a:latin typeface="Aptos"/>
              </a:defRPr>
            </a:pPr>
            <a:r>
              <a:rPr sz="1000" b="0" i="0">
                <a:solidFill>
                  <a:srgbClr val="697887"/>
                </a:solidFill>
                <a:latin typeface="Calibri"/>
              </a:rPr>
              <a:t>10</a:t>
            </a:r>
          </a:p>
        </p:txBody>
      </p:sp>
      <p:sp>
        <p:nvSpPr>
          <p:cNvPr id="5" name="TextBox 4"/>
          <p:cNvSpPr txBox="1"/>
          <p:nvPr/>
        </p:nvSpPr>
        <p:spPr>
          <a:xfrm>
            <a:off x="594360" y="6382512"/>
            <a:ext cx="8229600" cy="274320"/>
          </a:xfrm>
          <a:prstGeom prst="rect">
            <a:avLst/>
          </a:prstGeom>
          <a:noFill/>
        </p:spPr>
        <p:txBody>
          <a:bodyPr wrap="square" anchor="t" lIns="0" rIns="0" tIns="0" bIns="0">
            <a:spAutoFit/>
          </a:bodyPr>
          <a:lstStyle/>
          <a:p>
            <a:pPr algn="l"/>
            <a:r>
              <a:rPr sz="1000" b="0" i="0">
                <a:solidFill>
                  <a:srgbClr val="697887"/>
                </a:solidFill>
                <a:latin typeface="Calibri"/>
              </a:rPr>
              <a:t>Final Year Project Review | Department of Electrical &amp; Computer Engineering | Session 2026–27</a:t>
            </a:r>
          </a:p>
        </p:txBody>
      </p:sp>
      <p:sp>
        <p:nvSpPr>
          <p:cNvPr id="6" name="Rounded Rectangle 5"/>
          <p:cNvSpPr/>
          <p:nvPr/>
        </p:nvSpPr>
        <p:spPr>
          <a:xfrm>
            <a:off x="685800" y="1188720"/>
            <a:ext cx="6858000" cy="1097280"/>
          </a:xfrm>
          <a:prstGeom prst="roundRect">
            <a:avLst>
              <a:gd name="adj" fmla="val 8000"/>
            </a:avLst>
          </a:prstGeom>
          <a:solidFill>
            <a:srgbClr val="F1F6FB"/>
          </a:solidFill>
          <a:ln w="12700">
            <a:solidFill>
              <a:srgbClr val="D2DEE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600" b="1" i="0">
                <a:solidFill>
                  <a:srgbClr val="122A4C"/>
                </a:solidFill>
                <a:latin typeface="Calibri"/>
              </a:rPr>
              <a:t>Source</a:t>
            </a:r>
          </a:p>
          <a:p>
            <a:pPr algn="l"/>
            <a:r>
              <a:rPr sz="1500" b="0" i="0">
                <a:solidFill>
                  <a:srgbClr val="1E2328"/>
                </a:solidFill>
                <a:latin typeface="Calibri"/>
              </a:rPr>
              <a:t>No fixed dataset: live GPS from phones; map data from OpenStreetMap through OpenFreeMap.</a:t>
            </a:r>
          </a:p>
        </p:txBody>
      </p:sp>
      <p:sp>
        <p:nvSpPr>
          <p:cNvPr id="7" name="Rounded Rectangle 6"/>
          <p:cNvSpPr/>
          <p:nvPr/>
        </p:nvSpPr>
        <p:spPr>
          <a:xfrm>
            <a:off x="685800" y="2395728"/>
            <a:ext cx="6858000" cy="1097280"/>
          </a:xfrm>
          <a:prstGeom prst="roundRect">
            <a:avLst>
              <a:gd name="adj" fmla="val 8000"/>
            </a:avLst>
          </a:prstGeom>
          <a:solidFill>
            <a:srgbClr val="F1F6FB"/>
          </a:solidFill>
          <a:ln w="12700">
            <a:solidFill>
              <a:srgbClr val="D2DEE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600" b="1" i="0">
                <a:solidFill>
                  <a:srgbClr val="122A4C"/>
                </a:solidFill>
                <a:latin typeface="Calibri"/>
              </a:rPr>
              <a:t>Specifications</a:t>
            </a:r>
          </a:p>
          <a:p>
            <a:pPr algn="l"/>
            <a:r>
              <a:rPr sz="1500" b="0" i="0">
                <a:solidFill>
                  <a:srgbClr val="1E2328"/>
                </a:solidFill>
                <a:latin typeface="Calibri"/>
              </a:rPr>
              <a:t>Position every 1 s (emergency) or 3 s (normal); range-checked latitude, longitude, speed, heading.</a:t>
            </a:r>
          </a:p>
        </p:txBody>
      </p:sp>
      <p:sp>
        <p:nvSpPr>
          <p:cNvPr id="8" name="Rounded Rectangle 7"/>
          <p:cNvSpPr/>
          <p:nvPr/>
        </p:nvSpPr>
        <p:spPr>
          <a:xfrm>
            <a:off x="685800" y="3602736"/>
            <a:ext cx="6858000" cy="1097280"/>
          </a:xfrm>
          <a:prstGeom prst="roundRect">
            <a:avLst>
              <a:gd name="adj" fmla="val 8000"/>
            </a:avLst>
          </a:prstGeom>
          <a:solidFill>
            <a:srgbClr val="F1F6FB"/>
          </a:solidFill>
          <a:ln w="12700">
            <a:solidFill>
              <a:srgbClr val="D2DEE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600" b="1" i="0">
                <a:solidFill>
                  <a:srgbClr val="122A4C"/>
                </a:solidFill>
                <a:latin typeface="Calibri"/>
              </a:rPr>
              <a:t>Experimental setup</a:t>
            </a:r>
          </a:p>
          <a:p>
            <a:pPr algn="l"/>
            <a:r>
              <a:rPr sz="1500" b="0" i="0">
                <a:solidFill>
                  <a:srgbClr val="1E2328"/>
                </a:solidFill>
                <a:latin typeface="Calibri"/>
              </a:rPr>
              <a:t>Supabase project, Expo Android APK built in the cloud, console served as a web app.</a:t>
            </a:r>
          </a:p>
        </p:txBody>
      </p:sp>
      <p:sp>
        <p:nvSpPr>
          <p:cNvPr id="9" name="Rounded Rectangle 8"/>
          <p:cNvSpPr/>
          <p:nvPr/>
        </p:nvSpPr>
        <p:spPr>
          <a:xfrm>
            <a:off x="685800" y="4809744"/>
            <a:ext cx="6858000" cy="1097280"/>
          </a:xfrm>
          <a:prstGeom prst="roundRect">
            <a:avLst>
              <a:gd name="adj" fmla="val 8000"/>
            </a:avLst>
          </a:prstGeom>
          <a:solidFill>
            <a:srgbClr val="F1F6FB"/>
          </a:solidFill>
          <a:ln w="12700">
            <a:solidFill>
              <a:srgbClr val="D2DEE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600" b="1" i="0">
                <a:solidFill>
                  <a:srgbClr val="122A4C"/>
                </a:solidFill>
                <a:latin typeface="Calibri"/>
              </a:rPr>
              <a:t>Licensing</a:t>
            </a:r>
          </a:p>
          <a:p>
            <a:pPr algn="l"/>
            <a:r>
              <a:rPr sz="1500" b="0" i="0">
                <a:solidFill>
                  <a:srgbClr val="1E2328"/>
                </a:solidFill>
                <a:latin typeface="Calibri"/>
              </a:rPr>
              <a:t>OpenStreetMap (ODbL); public OSRM and Nominatim are light-use only, so self-hosting is planned.</a:t>
            </a:r>
          </a:p>
        </p:txBody>
      </p:sp>
      <p:sp>
        <p:nvSpPr>
          <p:cNvPr id="10" name="Rounded Rectangle 9"/>
          <p:cNvSpPr/>
          <p:nvPr/>
        </p:nvSpPr>
        <p:spPr>
          <a:xfrm>
            <a:off x="7863840" y="1188720"/>
            <a:ext cx="3657600" cy="1554480"/>
          </a:xfrm>
          <a:prstGeom prst="roundRect">
            <a:avLst>
              <a:gd name="adj" fmla="val 8000"/>
            </a:avLst>
          </a:prstGeom>
          <a:solidFill>
            <a:srgbClr val="122A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3200" b="1" i="0">
                <a:solidFill>
                  <a:srgbClr val="FFFFFF"/>
                </a:solidFill>
                <a:latin typeface="Calibri"/>
              </a:rPr>
              <a:t>1,200–3,600</a:t>
            </a:r>
          </a:p>
          <a:p>
            <a:pPr algn="ctr"/>
            <a:r>
              <a:rPr sz="1400" b="0" i="0">
                <a:solidFill>
                  <a:srgbClr val="DCE9F6"/>
                </a:solidFill>
                <a:latin typeface="Calibri"/>
              </a:rPr>
              <a:t>history rows per vehicle-hour</a:t>
            </a:r>
          </a:p>
        </p:txBody>
      </p:sp>
      <p:sp>
        <p:nvSpPr>
          <p:cNvPr id="11" name="Rounded Rectangle 10"/>
          <p:cNvSpPr/>
          <p:nvPr/>
        </p:nvSpPr>
        <p:spPr>
          <a:xfrm>
            <a:off x="7863840" y="2862072"/>
            <a:ext cx="3657600" cy="1554480"/>
          </a:xfrm>
          <a:prstGeom prst="roundRect">
            <a:avLst>
              <a:gd name="adj" fmla="val 8000"/>
            </a:avLst>
          </a:prstGeom>
          <a:solidFill>
            <a:srgbClr val="122A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3200" b="1" i="0">
                <a:solidFill>
                  <a:srgbClr val="FFFFFF"/>
                </a:solidFill>
                <a:latin typeface="Calibri"/>
              </a:rPr>
              <a:t>30 days</a:t>
            </a:r>
          </a:p>
          <a:p>
            <a:pPr algn="ctr"/>
            <a:r>
              <a:rPr sz="1400" b="0" i="0">
                <a:solidFill>
                  <a:srgbClr val="DCE9F6"/>
                </a:solidFill>
                <a:latin typeface="Calibri"/>
              </a:rPr>
              <a:t>history retention window</a:t>
            </a:r>
          </a:p>
        </p:txBody>
      </p:sp>
      <p:sp>
        <p:nvSpPr>
          <p:cNvPr id="12" name="Rounded Rectangle 11"/>
          <p:cNvSpPr/>
          <p:nvPr/>
        </p:nvSpPr>
        <p:spPr>
          <a:xfrm>
            <a:off x="7863840" y="4535424"/>
            <a:ext cx="3657600" cy="1554480"/>
          </a:xfrm>
          <a:prstGeom prst="roundRect">
            <a:avLst>
              <a:gd name="adj" fmla="val 8000"/>
            </a:avLst>
          </a:prstGeom>
          <a:solidFill>
            <a:srgbClr val="122A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3200" b="1" i="0">
                <a:solidFill>
                  <a:srgbClr val="FFFFFF"/>
                </a:solidFill>
                <a:latin typeface="Calibri"/>
              </a:rPr>
              <a:t>141 MB</a:t>
            </a:r>
          </a:p>
          <a:p>
            <a:pPr algn="ctr"/>
            <a:r>
              <a:rPr sz="1400" b="0" i="0">
                <a:solidFill>
                  <a:srgbClr val="DCE9F6"/>
                </a:solidFill>
                <a:latin typeface="Calibri"/>
              </a:rPr>
              <a:t>APK covering four ABIs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46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74320"/>
            <a:ext cx="11000232" cy="640080"/>
          </a:xfrm>
          <a:prstGeom prst="rect">
            <a:avLst/>
          </a:prstGeom>
          <a:noFill/>
        </p:spPr>
        <p:txBody>
          <a:bodyPr wrap="square"/>
          <a:lstStyle/>
          <a:p>
            <a:pPr algn="ctr">
              <a:defRPr sz="2700" b="1">
                <a:solidFill>
                  <a:srgbClr val="122A4C"/>
                </a:solidFill>
                <a:latin typeface="Aptos Display"/>
              </a:defRPr>
            </a:pPr>
            <a:r>
              <a:rPr sz="3000" b="1" i="0">
                <a:solidFill>
                  <a:srgbClr val="122A4C"/>
                </a:solidFill>
                <a:latin typeface="Calibri"/>
              </a:rPr>
              <a:t>Implementation &amp; Current Progress</a:t>
            </a:r>
          </a:p>
        </p:txBody>
      </p:sp>
      <p:sp>
        <p:nvSpPr>
          <p:cNvPr id="4" name="TextBox 3"/>
          <p:cNvSpPr txBox="1"/>
          <p:nvPr/>
        </p:nvSpPr>
        <p:spPr>
          <a:xfrm>
            <a:off x="11155680" y="6309360"/>
            <a:ext cx="457200" cy="274320"/>
          </a:xfrm>
          <a:prstGeom prst="rect">
            <a:avLst/>
          </a:prstGeom>
          <a:noFill/>
        </p:spPr>
        <p:txBody>
          <a:bodyPr wrap="none"/>
          <a:lstStyle/>
          <a:p>
            <a:pPr algn="r">
              <a:defRPr sz="1000">
                <a:solidFill>
                  <a:srgbClr val="697887"/>
                </a:solidFill>
                <a:latin typeface="Aptos"/>
              </a:defRPr>
            </a:pPr>
            <a:r>
              <a:rPr sz="1000" b="0" i="0">
                <a:solidFill>
                  <a:srgbClr val="697887"/>
                </a:solidFill>
                <a:latin typeface="Calibri"/>
              </a:rPr>
              <a:t>11</a:t>
            </a:r>
          </a:p>
        </p:txBody>
      </p:sp>
      <p:sp>
        <p:nvSpPr>
          <p:cNvPr id="5" name="TextBox 4"/>
          <p:cNvSpPr txBox="1"/>
          <p:nvPr/>
        </p:nvSpPr>
        <p:spPr>
          <a:xfrm>
            <a:off x="594360" y="6291072"/>
            <a:ext cx="8229600" cy="274320"/>
          </a:xfrm>
          <a:prstGeom prst="rect">
            <a:avLst/>
          </a:prstGeom>
          <a:noFill/>
        </p:spPr>
        <p:txBody>
          <a:bodyPr wrap="square"/>
          <a:lstStyle/>
          <a:p>
            <a:pPr>
              <a:defRPr sz="900">
                <a:solidFill>
                  <a:srgbClr val="697887"/>
                </a:solidFill>
                <a:latin typeface="Aptos"/>
              </a:defRPr>
            </a:pPr>
            <a:r>
              <a:rPr sz="1000" b="0" i="0">
                <a:solidFill>
                  <a:srgbClr val="697887"/>
                </a:solidFill>
                <a:latin typeface="Calibri"/>
              </a:rPr>
              <a:t>Final Year Project Review | Department of Electrical &amp; Computer Engineering | Session 2026–27</a:t>
            </a:r>
          </a:p>
        </p:txBody>
      </p:sp>
      <p:sp>
        <p:nvSpPr>
          <p:cNvPr id="6" name="Rounded Rectangle 5"/>
          <p:cNvSpPr/>
          <p:nvPr/>
        </p:nvSpPr>
        <p:spPr>
          <a:xfrm>
            <a:off x="685800" y="1188720"/>
            <a:ext cx="3520440" cy="3429000"/>
          </a:xfrm>
          <a:prstGeom prst="roundRect">
            <a:avLst>
              <a:gd name="adj" fmla="val 8000"/>
            </a:avLst>
          </a:prstGeom>
          <a:solidFill>
            <a:srgbClr val="F1F6FB"/>
          </a:solidFill>
          <a:ln w="12700">
            <a:solidFill>
              <a:srgbClr val="D2DE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188720"/>
            <a:ext cx="3520440" cy="594360"/>
          </a:xfrm>
          <a:prstGeom prst="roundRect">
            <a:avLst>
              <a:gd name="adj" fmla="val 8000"/>
            </a:avLst>
          </a:prstGeom>
          <a:solidFill>
            <a:srgbClr val="2463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900" b="1" i="0">
                <a:solidFill>
                  <a:srgbClr val="FFFFFF"/>
                </a:solidFill>
                <a:latin typeface="Calibri"/>
              </a:rPr>
              <a:t>Completed</a:t>
            </a:r>
          </a:p>
        </p:txBody>
      </p:sp>
      <p:sp>
        <p:nvSpPr>
          <p:cNvPr id="8" name="TextBox 7"/>
          <p:cNvSpPr txBox="1"/>
          <p:nvPr/>
        </p:nvSpPr>
        <p:spPr>
          <a:xfrm>
            <a:off x="868680" y="1920240"/>
            <a:ext cx="3200400" cy="2651760"/>
          </a:xfrm>
          <a:prstGeom prst="rect">
            <a:avLst/>
          </a:prstGeom>
          <a:noFill/>
        </p:spPr>
        <p:txBody>
          <a:bodyPr wrap="square" anchor="t" lIns="0" rIns="0" tIns="0" bIns="0">
            <a:spAutoFit/>
          </a:bodyPr>
          <a:lstStyle/>
          <a:p>
            <a:pPr algn="l" marL="228600" indent="-228600">
              <a:spcAft>
                <a:spcPts val="900"/>
              </a:spcAft>
              <a:buClr>
                <a:srgbClr val="2463A0"/>
              </a:buClr>
              <a:buChar char="•"/>
            </a:pPr>
            <a:r>
              <a:rPr sz="1700" b="0" i="0">
                <a:solidFill>
                  <a:srgbClr val="1E2328"/>
                </a:solidFill>
                <a:latin typeface="Calibri"/>
              </a:rPr>
              <a:t>Expo vehicle client with background GPS</a:t>
            </a:r>
          </a:p>
          <a:p>
            <a:pPr algn="l" marL="228600" indent="-228600">
              <a:spcAft>
                <a:spcPts val="900"/>
              </a:spcAft>
              <a:buClr>
                <a:srgbClr val="2463A0"/>
              </a:buClr>
              <a:buChar char="•"/>
            </a:pPr>
            <a:r>
              <a:rPr sz="1700" b="0" i="0">
                <a:solidFill>
                  <a:srgbClr val="1E2328"/>
                </a:solidFill>
                <a:latin typeface="Calibri"/>
              </a:rPr>
              <a:t>Operator/driver console on Supabase</a:t>
            </a:r>
          </a:p>
          <a:p>
            <a:pPr algn="l" marL="228600" indent="-228600">
              <a:spcAft>
                <a:spcPts val="900"/>
              </a:spcAft>
              <a:buClr>
                <a:srgbClr val="2463A0"/>
              </a:buClr>
              <a:buChar char="•"/>
            </a:pPr>
            <a:r>
              <a:rPr sz="1700" b="0" i="0">
                <a:solidFill>
                  <a:srgbClr val="1E2328"/>
                </a:solidFill>
                <a:latin typeface="Calibri"/>
              </a:rPr>
              <a:t>Schema, RLS, triggers, violations</a:t>
            </a:r>
          </a:p>
          <a:p>
            <a:pPr algn="l" marL="228600" indent="-228600">
              <a:spcAft>
                <a:spcPts val="900"/>
              </a:spcAft>
              <a:buClr>
                <a:srgbClr val="2463A0"/>
              </a:buClr>
              <a:buChar char="•"/>
            </a:pPr>
            <a:r>
              <a:rPr sz="1700" b="0" i="0">
                <a:solidFill>
                  <a:srgbClr val="1E2328"/>
                </a:solidFill>
                <a:latin typeface="Calibri"/>
              </a:rPr>
              <a:t>Alerts, place search, crash reporting</a:t>
            </a:r>
          </a:p>
          <a:p>
            <a:pPr algn="l" marL="228600" indent="-228600">
              <a:spcAft>
                <a:spcPts val="900"/>
              </a:spcAft>
              <a:buClr>
                <a:srgbClr val="2463A0"/>
              </a:buClr>
              <a:buChar char="•"/>
            </a:pPr>
            <a:r>
              <a:rPr sz="1700" b="0" i="0">
                <a:solidFill>
                  <a:srgbClr val="1E2328"/>
                </a:solidFill>
                <a:latin typeface="Calibri"/>
              </a:rPr>
              <a:t>APK build and 139 passing tests</a:t>
            </a:r>
          </a:p>
        </p:txBody>
      </p:sp>
      <p:sp>
        <p:nvSpPr>
          <p:cNvPr id="9" name="Rounded Rectangle 8"/>
          <p:cNvSpPr/>
          <p:nvPr/>
        </p:nvSpPr>
        <p:spPr>
          <a:xfrm>
            <a:off x="4343400" y="1188720"/>
            <a:ext cx="3520440" cy="3429000"/>
          </a:xfrm>
          <a:prstGeom prst="roundRect">
            <a:avLst>
              <a:gd name="adj" fmla="val 8000"/>
            </a:avLst>
          </a:prstGeom>
          <a:solidFill>
            <a:srgbClr val="F1F6FB"/>
          </a:solidFill>
          <a:ln w="12700">
            <a:solidFill>
              <a:srgbClr val="D2DE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43400" y="1188720"/>
            <a:ext cx="3520440" cy="594360"/>
          </a:xfrm>
          <a:prstGeom prst="roundRect">
            <a:avLst>
              <a:gd name="adj" fmla="val 8000"/>
            </a:avLst>
          </a:prstGeom>
          <a:solidFill>
            <a:srgbClr val="122A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900" b="1" i="0">
                <a:solidFill>
                  <a:srgbClr val="FFFFFF"/>
                </a:solidFill>
                <a:latin typeface="Calibri"/>
              </a:rPr>
              <a:t>Ongoing</a:t>
            </a:r>
          </a:p>
        </p:txBody>
      </p:sp>
      <p:sp>
        <p:nvSpPr>
          <p:cNvPr id="11" name="TextBox 10"/>
          <p:cNvSpPr txBox="1"/>
          <p:nvPr/>
        </p:nvSpPr>
        <p:spPr>
          <a:xfrm>
            <a:off x="4526280" y="1920240"/>
            <a:ext cx="3200400" cy="2651760"/>
          </a:xfrm>
          <a:prstGeom prst="rect">
            <a:avLst/>
          </a:prstGeom>
          <a:noFill/>
        </p:spPr>
        <p:txBody>
          <a:bodyPr wrap="square" anchor="t" lIns="0" rIns="0" tIns="0" bIns="0">
            <a:spAutoFit/>
          </a:bodyPr>
          <a:lstStyle/>
          <a:p>
            <a:pPr algn="l" marL="228600" indent="-228600">
              <a:spcAft>
                <a:spcPts val="900"/>
              </a:spcAft>
              <a:buClr>
                <a:srgbClr val="2463A0"/>
              </a:buClr>
              <a:buChar char="•"/>
            </a:pPr>
            <a:r>
              <a:rPr sz="1700" b="0" i="0">
                <a:solidFill>
                  <a:srgbClr val="1E2328"/>
                </a:solidFill>
                <a:latin typeface="Calibri"/>
              </a:rPr>
              <a:t>Verification on physical devices</a:t>
            </a:r>
          </a:p>
          <a:p>
            <a:pPr algn="l" marL="228600" indent="-228600">
              <a:spcAft>
                <a:spcPts val="900"/>
              </a:spcAft>
              <a:buClr>
                <a:srgbClr val="2463A0"/>
              </a:buClr>
              <a:buChar char="•"/>
            </a:pPr>
            <a:r>
              <a:rPr sz="1700" b="0" i="0">
                <a:solidFill>
                  <a:srgbClr val="1E2328"/>
                </a:solidFill>
                <a:latin typeface="Calibri"/>
              </a:rPr>
              <a:t>Emergency corridor broadcast checks</a:t>
            </a:r>
          </a:p>
          <a:p>
            <a:pPr algn="l" marL="228600" indent="-228600">
              <a:spcAft>
                <a:spcPts val="900"/>
              </a:spcAft>
              <a:buClr>
                <a:srgbClr val="2463A0"/>
              </a:buClr>
              <a:buChar char="•"/>
            </a:pPr>
            <a:r>
              <a:rPr sz="1700" b="0" i="0">
                <a:solidFill>
                  <a:srgbClr val="1E2328"/>
                </a:solidFill>
                <a:latin typeface="Calibri"/>
              </a:rPr>
              <a:t>Console and app polish</a:t>
            </a:r>
          </a:p>
        </p:txBody>
      </p:sp>
      <p:sp>
        <p:nvSpPr>
          <p:cNvPr id="12" name="Rounded Rectangle 11"/>
          <p:cNvSpPr/>
          <p:nvPr/>
        </p:nvSpPr>
        <p:spPr>
          <a:xfrm>
            <a:off x="8001000" y="1188720"/>
            <a:ext cx="3520440" cy="3429000"/>
          </a:xfrm>
          <a:prstGeom prst="roundRect">
            <a:avLst>
              <a:gd name="adj" fmla="val 8000"/>
            </a:avLst>
          </a:prstGeom>
          <a:solidFill>
            <a:srgbClr val="F1F6FB"/>
          </a:solidFill>
          <a:ln w="12700">
            <a:solidFill>
              <a:srgbClr val="D2DE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001000" y="1188720"/>
            <a:ext cx="3520440" cy="594360"/>
          </a:xfrm>
          <a:prstGeom prst="roundRect">
            <a:avLst>
              <a:gd name="adj" fmla="val 8000"/>
            </a:avLst>
          </a:prstGeom>
          <a:solidFill>
            <a:srgbClr val="69788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900" b="1" i="0">
                <a:solidFill>
                  <a:srgbClr val="FFFFFF"/>
                </a:solidFill>
                <a:latin typeface="Calibri"/>
              </a:rPr>
              <a:t>Pending</a:t>
            </a:r>
          </a:p>
        </p:txBody>
      </p:sp>
      <p:sp>
        <p:nvSpPr>
          <p:cNvPr id="14" name="TextBox 13"/>
          <p:cNvSpPr txBox="1"/>
          <p:nvPr/>
        </p:nvSpPr>
        <p:spPr>
          <a:xfrm>
            <a:off x="8183879" y="1920240"/>
            <a:ext cx="3200400" cy="2651760"/>
          </a:xfrm>
          <a:prstGeom prst="rect">
            <a:avLst/>
          </a:prstGeom>
          <a:noFill/>
        </p:spPr>
        <p:txBody>
          <a:bodyPr wrap="square" anchor="t" lIns="0" rIns="0" tIns="0" bIns="0">
            <a:spAutoFit/>
          </a:bodyPr>
          <a:lstStyle/>
          <a:p>
            <a:pPr algn="l" marL="228600" indent="-228600">
              <a:spcAft>
                <a:spcPts val="900"/>
              </a:spcAft>
              <a:buClr>
                <a:srgbClr val="2463A0"/>
              </a:buClr>
              <a:buChar char="•"/>
            </a:pPr>
            <a:r>
              <a:rPr sz="1700" b="0" i="0">
                <a:solidFill>
                  <a:srgbClr val="1E2328"/>
                </a:solidFill>
                <a:latin typeface="Calibri"/>
              </a:rPr>
              <a:t>Self-hosted routing and geocoding</a:t>
            </a:r>
          </a:p>
          <a:p>
            <a:pPr algn="l" marL="228600" indent="-228600">
              <a:spcAft>
                <a:spcPts val="900"/>
              </a:spcAft>
              <a:buClr>
                <a:srgbClr val="2463A0"/>
              </a:buClr>
              <a:buChar char="•"/>
            </a:pPr>
            <a:r>
              <a:rPr sz="1700" b="0" i="0">
                <a:solidFill>
                  <a:srgbClr val="1E2328"/>
                </a:solidFill>
                <a:latin typeface="Calibri"/>
              </a:rPr>
              <a:t>Multi-vehicle load testing</a:t>
            </a:r>
          </a:p>
          <a:p>
            <a:pPr algn="l" marL="228600" indent="-228600">
              <a:spcAft>
                <a:spcPts val="900"/>
              </a:spcAft>
              <a:buClr>
                <a:srgbClr val="2463A0"/>
              </a:buClr>
              <a:buChar char="•"/>
            </a:pPr>
            <a:r>
              <a:rPr sz="1700" b="0" i="0">
                <a:solidFill>
                  <a:srgbClr val="1E2328"/>
                </a:solidFill>
                <a:latin typeface="Calibri"/>
              </a:rPr>
              <a:t>Final documentation and demo</a:t>
            </a:r>
          </a:p>
        </p:txBody>
      </p:sp>
      <p:sp>
        <p:nvSpPr>
          <p:cNvPr id="15" name="TextBox 14"/>
          <p:cNvSpPr txBox="1"/>
          <p:nvPr/>
        </p:nvSpPr>
        <p:spPr>
          <a:xfrm>
            <a:off x="685800" y="4846320"/>
            <a:ext cx="5486400" cy="365760"/>
          </a:xfrm>
          <a:prstGeom prst="rect">
            <a:avLst/>
          </a:prstGeom>
          <a:noFill/>
        </p:spPr>
        <p:txBody>
          <a:bodyPr wrap="square" anchor="t" lIns="0" rIns="0" tIns="0" bIns="0">
            <a:spAutoFit/>
          </a:bodyPr>
          <a:lstStyle/>
          <a:p>
            <a:pPr algn="l"/>
            <a:r>
              <a:rPr sz="1800" b="1" i="0">
                <a:solidFill>
                  <a:srgbClr val="122A4C"/>
                </a:solidFill>
                <a:latin typeface="Calibri"/>
              </a:rPr>
              <a:t>Overall completion</a:t>
            </a:r>
          </a:p>
        </p:txBody>
      </p:sp>
      <p:sp>
        <p:nvSpPr>
          <p:cNvPr id="16" name="Rounded Rectangle 15"/>
          <p:cNvSpPr/>
          <p:nvPr/>
        </p:nvSpPr>
        <p:spPr>
          <a:xfrm>
            <a:off x="685800" y="5303520"/>
            <a:ext cx="10835640" cy="457200"/>
          </a:xfrm>
          <a:prstGeom prst="roundRect">
            <a:avLst>
              <a:gd name="adj" fmla="val 8000"/>
            </a:avLst>
          </a:prstGeom>
          <a:solidFill>
            <a:srgbClr val="F1F6FB"/>
          </a:solidFill>
          <a:ln w="12700">
            <a:solidFill>
              <a:srgbClr val="D2DE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85800" y="5303520"/>
            <a:ext cx="8126729" cy="457200"/>
          </a:xfrm>
          <a:prstGeom prst="roundRect">
            <a:avLst>
              <a:gd name="adj" fmla="val 8000"/>
            </a:avLst>
          </a:prstGeom>
          <a:solidFill>
            <a:srgbClr val="2463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0" bIns="0"/>
          <a:lstStyle/>
          <a:p>
            <a:pPr algn="r"/>
            <a:r>
              <a:rPr sz="1600" b="1" i="0">
                <a:solidFill>
                  <a:srgbClr val="FFFFFF"/>
                </a:solidFill>
                <a:latin typeface="Calibri"/>
              </a:rPr>
              <a:t>≈ 75 %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46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74320"/>
            <a:ext cx="11000232" cy="640080"/>
          </a:xfrm>
          <a:prstGeom prst="rect">
            <a:avLst/>
          </a:prstGeom>
          <a:noFill/>
        </p:spPr>
        <p:txBody>
          <a:bodyPr wrap="square"/>
          <a:lstStyle/>
          <a:p>
            <a:pPr algn="ctr">
              <a:defRPr sz="2700" b="1">
                <a:solidFill>
                  <a:srgbClr val="122A4C"/>
                </a:solidFill>
                <a:latin typeface="Aptos Display"/>
              </a:defRPr>
            </a:pPr>
            <a:r>
              <a:rPr sz="3000" b="1" i="0">
                <a:solidFill>
                  <a:srgbClr val="122A4C"/>
                </a:solidFill>
                <a:latin typeface="Calibri"/>
              </a:rPr>
              <a:t>Results / Screenshots / Demo</a:t>
            </a:r>
          </a:p>
        </p:txBody>
      </p:sp>
      <p:sp>
        <p:nvSpPr>
          <p:cNvPr id="4" name="TextBox 3"/>
          <p:cNvSpPr txBox="1"/>
          <p:nvPr/>
        </p:nvSpPr>
        <p:spPr>
          <a:xfrm>
            <a:off x="11155680" y="6309360"/>
            <a:ext cx="457200" cy="274320"/>
          </a:xfrm>
          <a:prstGeom prst="rect">
            <a:avLst/>
          </a:prstGeom>
          <a:noFill/>
        </p:spPr>
        <p:txBody>
          <a:bodyPr wrap="none"/>
          <a:lstStyle/>
          <a:p>
            <a:pPr algn="r">
              <a:defRPr sz="1000">
                <a:solidFill>
                  <a:srgbClr val="697887"/>
                </a:solidFill>
                <a:latin typeface="Aptos"/>
              </a:defRPr>
            </a:pPr>
            <a:r>
              <a:rPr sz="1000" b="0" i="0">
                <a:solidFill>
                  <a:srgbClr val="697887"/>
                </a:solidFill>
                <a:latin typeface="Calibri"/>
              </a:rPr>
              <a:t>12</a:t>
            </a:r>
          </a:p>
        </p:txBody>
      </p:sp>
      <p:sp>
        <p:nvSpPr>
          <p:cNvPr id="5" name="TextBox 4"/>
          <p:cNvSpPr txBox="1"/>
          <p:nvPr/>
        </p:nvSpPr>
        <p:spPr>
          <a:xfrm>
            <a:off x="594360" y="6291072"/>
            <a:ext cx="8229600" cy="274320"/>
          </a:xfrm>
          <a:prstGeom prst="rect">
            <a:avLst/>
          </a:prstGeom>
          <a:noFill/>
        </p:spPr>
        <p:txBody>
          <a:bodyPr wrap="square"/>
          <a:lstStyle/>
          <a:p>
            <a:pPr>
              <a:defRPr sz="900">
                <a:solidFill>
                  <a:srgbClr val="697887"/>
                </a:solidFill>
                <a:latin typeface="Aptos"/>
              </a:defRPr>
            </a:pPr>
            <a:r>
              <a:rPr sz="1000" b="0" i="0">
                <a:solidFill>
                  <a:srgbClr val="697887"/>
                </a:solidFill>
                <a:latin typeface="Calibri"/>
              </a:rPr>
              <a:t>Final Year Project Review | Department of Electrical &amp; Computer Engineering | Session 2026–27</a:t>
            </a:r>
          </a:p>
        </p:txBody>
      </p:sp>
      <p:sp>
        <p:nvSpPr>
          <p:cNvPr id="6" name="Rounded Rectangle 5"/>
          <p:cNvSpPr/>
          <p:nvPr/>
        </p:nvSpPr>
        <p:spPr>
          <a:xfrm>
            <a:off x="685800" y="1143000"/>
            <a:ext cx="2606040" cy="1188720"/>
          </a:xfrm>
          <a:prstGeom prst="roundRect">
            <a:avLst>
              <a:gd name="adj" fmla="val 8000"/>
            </a:avLst>
          </a:prstGeom>
          <a:solidFill>
            <a:srgbClr val="122A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3000" b="1" i="0">
                <a:solidFill>
                  <a:srgbClr val="FFFFFF"/>
                </a:solidFill>
                <a:latin typeface="Calibri"/>
              </a:rPr>
              <a:t>139</a:t>
            </a:r>
          </a:p>
          <a:p>
            <a:pPr algn="ctr"/>
            <a:r>
              <a:rPr sz="1300" b="0" i="0">
                <a:solidFill>
                  <a:srgbClr val="DCE9F6"/>
                </a:solidFill>
                <a:latin typeface="Calibri"/>
              </a:rPr>
              <a:t>automated tests passing</a:t>
            </a:r>
          </a:p>
        </p:txBody>
      </p:sp>
      <p:sp>
        <p:nvSpPr>
          <p:cNvPr id="7" name="Rounded Rectangle 6"/>
          <p:cNvSpPr/>
          <p:nvPr/>
        </p:nvSpPr>
        <p:spPr>
          <a:xfrm>
            <a:off x="3429000" y="1143000"/>
            <a:ext cx="2606040" cy="1188720"/>
          </a:xfrm>
          <a:prstGeom prst="roundRect">
            <a:avLst>
              <a:gd name="adj" fmla="val 8000"/>
            </a:avLst>
          </a:prstGeom>
          <a:solidFill>
            <a:srgbClr val="122A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3000" b="1" i="0">
                <a:solidFill>
                  <a:srgbClr val="FFFFFF"/>
                </a:solidFill>
                <a:latin typeface="Calibri"/>
              </a:rPr>
              <a:t>1 s / 3 s</a:t>
            </a:r>
          </a:p>
          <a:p>
            <a:pPr algn="ctr"/>
            <a:r>
              <a:rPr sz="1300" b="0" i="0">
                <a:solidFill>
                  <a:srgbClr val="DCE9F6"/>
                </a:solidFill>
                <a:latin typeface="Calibri"/>
              </a:rPr>
              <a:t>position update interval</a:t>
            </a:r>
          </a:p>
        </p:txBody>
      </p:sp>
      <p:sp>
        <p:nvSpPr>
          <p:cNvPr id="8" name="Rounded Rectangle 7"/>
          <p:cNvSpPr/>
          <p:nvPr/>
        </p:nvSpPr>
        <p:spPr>
          <a:xfrm>
            <a:off x="6172200" y="1143000"/>
            <a:ext cx="2606040" cy="1188720"/>
          </a:xfrm>
          <a:prstGeom prst="roundRect">
            <a:avLst>
              <a:gd name="adj" fmla="val 8000"/>
            </a:avLst>
          </a:prstGeom>
          <a:solidFill>
            <a:srgbClr val="122A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3000" b="1" i="0">
                <a:solidFill>
                  <a:srgbClr val="FFFFFF"/>
                </a:solidFill>
                <a:latin typeface="Calibri"/>
              </a:rPr>
              <a:t>0</a:t>
            </a:r>
          </a:p>
          <a:p>
            <a:pPr algn="ctr"/>
            <a:r>
              <a:rPr sz="1300" b="0" i="0">
                <a:solidFill>
                  <a:srgbClr val="DCE9F6"/>
                </a:solidFill>
                <a:latin typeface="Calibri"/>
              </a:rPr>
              <a:t>map API keys needed</a:t>
            </a:r>
          </a:p>
        </p:txBody>
      </p:sp>
      <p:sp>
        <p:nvSpPr>
          <p:cNvPr id="9" name="Rounded Rectangle 8"/>
          <p:cNvSpPr/>
          <p:nvPr/>
        </p:nvSpPr>
        <p:spPr>
          <a:xfrm>
            <a:off x="8915400" y="1143000"/>
            <a:ext cx="2606040" cy="1188720"/>
          </a:xfrm>
          <a:prstGeom prst="roundRect">
            <a:avLst>
              <a:gd name="adj" fmla="val 8000"/>
            </a:avLst>
          </a:prstGeom>
          <a:solidFill>
            <a:srgbClr val="122A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3000" b="1" i="0">
                <a:solidFill>
                  <a:srgbClr val="FFFFFF"/>
                </a:solidFill>
                <a:latin typeface="Calibri"/>
              </a:rPr>
              <a:t>4</a:t>
            </a:r>
          </a:p>
          <a:p>
            <a:pPr algn="ctr"/>
            <a:r>
              <a:rPr sz="1300" b="0" i="0">
                <a:solidFill>
                  <a:srgbClr val="DCE9F6"/>
                </a:solidFill>
                <a:latin typeface="Calibri"/>
              </a:rPr>
              <a:t>ABIs in the Android build</a:t>
            </a:r>
          </a:p>
        </p:txBody>
      </p:sp>
      <p:sp>
        <p:nvSpPr>
          <p:cNvPr id="10" name="Rounded Rectangle 9"/>
          <p:cNvSpPr/>
          <p:nvPr/>
        </p:nvSpPr>
        <p:spPr>
          <a:xfrm>
            <a:off x="685800" y="2560320"/>
            <a:ext cx="5349240" cy="2880360"/>
          </a:xfrm>
          <a:prstGeom prst="roundRect">
            <a:avLst>
              <a:gd name="adj" fmla="val 8000"/>
            </a:avLst>
          </a:prstGeom>
          <a:solidFill>
            <a:srgbClr val="FFFFFF"/>
          </a:solidFill>
          <a:ln w="12700">
            <a:solidFill>
              <a:srgbClr val="2463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3840480"/>
            <a:ext cx="5349240" cy="365760"/>
          </a:xfrm>
          <a:prstGeom prst="rect">
            <a:avLst/>
          </a:prstGeom>
          <a:noFill/>
        </p:spPr>
        <p:txBody>
          <a:bodyPr wrap="square" anchor="t" lIns="0" rIns="0" tIns="0" bIns="0">
            <a:spAutoFit/>
          </a:bodyPr>
          <a:lstStyle/>
          <a:p>
            <a:pPr algn="ctr"/>
            <a:r>
              <a:rPr sz="1600" b="0" i="0">
                <a:solidFill>
                  <a:srgbClr val="697887"/>
                </a:solidFill>
                <a:latin typeface="Calibri"/>
              </a:rPr>
              <a:t>[ Insert screenshot ]</a:t>
            </a:r>
          </a:p>
        </p:txBody>
      </p:sp>
      <p:sp>
        <p:nvSpPr>
          <p:cNvPr id="12" name="TextBox 11"/>
          <p:cNvSpPr txBox="1"/>
          <p:nvPr/>
        </p:nvSpPr>
        <p:spPr>
          <a:xfrm>
            <a:off x="685800" y="5486400"/>
            <a:ext cx="5349240" cy="320040"/>
          </a:xfrm>
          <a:prstGeom prst="rect">
            <a:avLst/>
          </a:prstGeom>
          <a:noFill/>
        </p:spPr>
        <p:txBody>
          <a:bodyPr wrap="square" anchor="t" lIns="0" rIns="0" tIns="0" bIns="0">
            <a:spAutoFit/>
          </a:bodyPr>
          <a:lstStyle/>
          <a:p>
            <a:pPr algn="ctr"/>
            <a:r>
              <a:rPr sz="1400" b="1" i="0">
                <a:solidFill>
                  <a:srgbClr val="122A4C"/>
                </a:solidFill>
                <a:latin typeface="Calibri"/>
              </a:rPr>
              <a:t>Operator console: live fleet map</a:t>
            </a:r>
          </a:p>
        </p:txBody>
      </p:sp>
      <p:sp>
        <p:nvSpPr>
          <p:cNvPr id="13" name="Rounded Rectangle 12"/>
          <p:cNvSpPr/>
          <p:nvPr/>
        </p:nvSpPr>
        <p:spPr>
          <a:xfrm>
            <a:off x="6172200" y="2560320"/>
            <a:ext cx="5349240" cy="2880360"/>
          </a:xfrm>
          <a:prstGeom prst="roundRect">
            <a:avLst>
              <a:gd name="adj" fmla="val 8000"/>
            </a:avLst>
          </a:prstGeom>
          <a:solidFill>
            <a:srgbClr val="FFFFFF"/>
          </a:solidFill>
          <a:ln w="12700">
            <a:solidFill>
              <a:srgbClr val="2463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72200" y="3840480"/>
            <a:ext cx="5349240" cy="365760"/>
          </a:xfrm>
          <a:prstGeom prst="rect">
            <a:avLst/>
          </a:prstGeom>
          <a:noFill/>
        </p:spPr>
        <p:txBody>
          <a:bodyPr wrap="square" anchor="t" lIns="0" rIns="0" tIns="0" bIns="0">
            <a:spAutoFit/>
          </a:bodyPr>
          <a:lstStyle/>
          <a:p>
            <a:pPr algn="ctr"/>
            <a:r>
              <a:rPr sz="1600" b="0" i="0">
                <a:solidFill>
                  <a:srgbClr val="697887"/>
                </a:solidFill>
                <a:latin typeface="Calibri"/>
              </a:rPr>
              <a:t>[ Insert screenshot ]</a:t>
            </a:r>
          </a:p>
        </p:txBody>
      </p:sp>
      <p:sp>
        <p:nvSpPr>
          <p:cNvPr id="15" name="TextBox 14"/>
          <p:cNvSpPr txBox="1"/>
          <p:nvPr/>
        </p:nvSpPr>
        <p:spPr>
          <a:xfrm>
            <a:off x="6172200" y="5486400"/>
            <a:ext cx="5349240" cy="320040"/>
          </a:xfrm>
          <a:prstGeom prst="rect">
            <a:avLst/>
          </a:prstGeom>
          <a:noFill/>
        </p:spPr>
        <p:txBody>
          <a:bodyPr wrap="square" anchor="t" lIns="0" rIns="0" tIns="0" bIns="0">
            <a:spAutoFit/>
          </a:bodyPr>
          <a:lstStyle/>
          <a:p>
            <a:pPr algn="ctr"/>
            <a:r>
              <a:rPr sz="1400" b="1" i="0">
                <a:solidFill>
                  <a:srgbClr val="122A4C"/>
                </a:solidFill>
                <a:latin typeface="Calibri"/>
              </a:rPr>
              <a:t>Mobile app: driver view</a:t>
            </a:r>
          </a:p>
        </p:txBody>
      </p:sp>
      <p:sp>
        <p:nvSpPr>
          <p:cNvPr id="16" name="TextBox 15"/>
          <p:cNvSpPr txBox="1"/>
          <p:nvPr/>
        </p:nvSpPr>
        <p:spPr>
          <a:xfrm>
            <a:off x="685800" y="5870448"/>
            <a:ext cx="10835640" cy="365760"/>
          </a:xfrm>
          <a:prstGeom prst="rect">
            <a:avLst/>
          </a:prstGeom>
          <a:noFill/>
        </p:spPr>
        <p:txBody>
          <a:bodyPr wrap="square" anchor="t" lIns="0" rIns="0" tIns="0" bIns="0">
            <a:spAutoFit/>
          </a:bodyPr>
          <a:lstStyle/>
          <a:p>
            <a:pPr algn="l"/>
            <a:r>
              <a:rPr sz="1300" b="0" i="1">
                <a:solidFill>
                  <a:srgbClr val="697887"/>
                </a:solidFill>
                <a:latin typeface="Calibri"/>
              </a:rPr>
              <a:t>Evaluation: test pass counts (mobile 54, database 85); update interval is set in the client. Device-level latency results are planned.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46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74320"/>
            <a:ext cx="11000232" cy="640080"/>
          </a:xfrm>
          <a:prstGeom prst="rect">
            <a:avLst/>
          </a:prstGeom>
          <a:noFill/>
        </p:spPr>
        <p:txBody>
          <a:bodyPr wrap="square"/>
          <a:lstStyle/>
          <a:p>
            <a:pPr algn="ctr">
              <a:defRPr sz="2700" b="1">
                <a:solidFill>
                  <a:srgbClr val="122A4C"/>
                </a:solidFill>
                <a:latin typeface="Aptos Display"/>
              </a:defRPr>
            </a:pPr>
            <a:r>
              <a:rPr sz="3000" b="1" i="0">
                <a:solidFill>
                  <a:srgbClr val="122A4C"/>
                </a:solidFill>
                <a:latin typeface="Calibri"/>
              </a:rPr>
              <a:t>Challenges &amp; Limitations</a:t>
            </a:r>
          </a:p>
        </p:txBody>
      </p:sp>
      <p:sp>
        <p:nvSpPr>
          <p:cNvPr id="4" name="TextBox 3"/>
          <p:cNvSpPr txBox="1"/>
          <p:nvPr/>
        </p:nvSpPr>
        <p:spPr>
          <a:xfrm>
            <a:off x="11155680" y="6309360"/>
            <a:ext cx="457200" cy="274320"/>
          </a:xfrm>
          <a:prstGeom prst="rect">
            <a:avLst/>
          </a:prstGeom>
          <a:noFill/>
        </p:spPr>
        <p:txBody>
          <a:bodyPr wrap="none"/>
          <a:lstStyle/>
          <a:p>
            <a:pPr algn="r">
              <a:defRPr sz="1000">
                <a:solidFill>
                  <a:srgbClr val="697887"/>
                </a:solidFill>
                <a:latin typeface="Aptos"/>
              </a:defRPr>
            </a:pPr>
            <a:r>
              <a:rPr sz="1000" b="0" i="0">
                <a:solidFill>
                  <a:srgbClr val="697887"/>
                </a:solidFill>
                <a:latin typeface="Calibri"/>
              </a:rPr>
              <a:t>13</a:t>
            </a:r>
          </a:p>
        </p:txBody>
      </p:sp>
      <p:sp>
        <p:nvSpPr>
          <p:cNvPr id="5" name="Rounded Rectangle 4"/>
          <p:cNvSpPr/>
          <p:nvPr/>
        </p:nvSpPr>
        <p:spPr>
          <a:xfrm>
            <a:off x="685800" y="1097280"/>
            <a:ext cx="2743200" cy="457200"/>
          </a:xfrm>
          <a:prstGeom prst="roundRect">
            <a:avLst>
              <a:gd name="adj" fmla="val 8000"/>
            </a:avLst>
          </a:prstGeom>
          <a:solidFill>
            <a:srgbClr val="122A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0" bIns="0"/>
          <a:lstStyle/>
          <a:p>
            <a:pPr algn="l"/>
            <a:r>
              <a:rPr sz="1500" b="1" i="0">
                <a:solidFill>
                  <a:srgbClr val="FFFFFF"/>
                </a:solidFill>
                <a:latin typeface="Calibri"/>
              </a:rPr>
              <a:t>Challenge</a:t>
            </a:r>
          </a:p>
        </p:txBody>
      </p:sp>
      <p:sp>
        <p:nvSpPr>
          <p:cNvPr id="6" name="Rounded Rectangle 5"/>
          <p:cNvSpPr/>
          <p:nvPr/>
        </p:nvSpPr>
        <p:spPr>
          <a:xfrm>
            <a:off x="3520440" y="1097280"/>
            <a:ext cx="4206240" cy="457200"/>
          </a:xfrm>
          <a:prstGeom prst="roundRect">
            <a:avLst>
              <a:gd name="adj" fmla="val 8000"/>
            </a:avLst>
          </a:prstGeom>
          <a:solidFill>
            <a:srgbClr val="122A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0" bIns="0"/>
          <a:lstStyle/>
          <a:p>
            <a:pPr algn="l"/>
            <a:r>
              <a:rPr sz="1500" b="1" i="0">
                <a:solidFill>
                  <a:srgbClr val="FFFFFF"/>
                </a:solidFill>
                <a:latin typeface="Calibri"/>
              </a:rPr>
              <a:t>What happened</a:t>
            </a:r>
          </a:p>
        </p:txBody>
      </p:sp>
      <p:sp>
        <p:nvSpPr>
          <p:cNvPr id="7" name="Rounded Rectangle 6"/>
          <p:cNvSpPr/>
          <p:nvPr/>
        </p:nvSpPr>
        <p:spPr>
          <a:xfrm>
            <a:off x="7818120" y="1097280"/>
            <a:ext cx="3703320" cy="457200"/>
          </a:xfrm>
          <a:prstGeom prst="roundRect">
            <a:avLst>
              <a:gd name="adj" fmla="val 8000"/>
            </a:avLst>
          </a:prstGeom>
          <a:solidFill>
            <a:srgbClr val="122A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0" bIns="0"/>
          <a:lstStyle/>
          <a:p>
            <a:pPr algn="l"/>
            <a:r>
              <a:rPr sz="1500" b="1" i="0">
                <a:solidFill>
                  <a:srgbClr val="FFFFFF"/>
                </a:solidFill>
                <a:latin typeface="Calibri"/>
              </a:rPr>
              <a:t>How addressed / planned</a:t>
            </a:r>
          </a:p>
        </p:txBody>
      </p:sp>
      <p:sp>
        <p:nvSpPr>
          <p:cNvPr id="8" name="Rounded Rectangle 7"/>
          <p:cNvSpPr/>
          <p:nvPr/>
        </p:nvSpPr>
        <p:spPr>
          <a:xfrm>
            <a:off x="685800" y="1645920"/>
            <a:ext cx="2743200" cy="1051560"/>
          </a:xfrm>
          <a:prstGeom prst="roundRect">
            <a:avLst>
              <a:gd name="adj" fmla="val 8000"/>
            </a:avLst>
          </a:prstGeom>
          <a:solidFill>
            <a:srgbClr val="DCE9F6"/>
          </a:solidFill>
          <a:ln w="12700">
            <a:solidFill>
              <a:srgbClr val="D2DEEB"/>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600" b="1" i="0">
                <a:solidFill>
                  <a:srgbClr val="122A4C"/>
                </a:solidFill>
                <a:latin typeface="Calibri"/>
              </a:rPr>
              <a:t>Expo dependency skew</a:t>
            </a:r>
          </a:p>
        </p:txBody>
      </p:sp>
      <p:sp>
        <p:nvSpPr>
          <p:cNvPr id="9" name="Rounded Rectangle 8"/>
          <p:cNvSpPr/>
          <p:nvPr/>
        </p:nvSpPr>
        <p:spPr>
          <a:xfrm>
            <a:off x="3520440" y="1645920"/>
            <a:ext cx="4206240" cy="1051560"/>
          </a:xfrm>
          <a:prstGeom prst="roundRect">
            <a:avLst>
              <a:gd name="adj" fmla="val 8000"/>
            </a:avLst>
          </a:prstGeom>
          <a:solidFill>
            <a:srgbClr val="F1F6FB"/>
          </a:solidFill>
          <a:ln w="12700">
            <a:solidFill>
              <a:srgbClr val="D2DEEB"/>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400" b="0" i="0">
                <a:solidFill>
                  <a:srgbClr val="1E2328"/>
                </a:solidFill>
                <a:latin typeface="Calibri"/>
              </a:rPr>
              <a:t>legacy-peer-deps silently skipped three peer packages, breaking builds.</a:t>
            </a:r>
          </a:p>
        </p:txBody>
      </p:sp>
      <p:sp>
        <p:nvSpPr>
          <p:cNvPr id="10" name="Rounded Rectangle 9"/>
          <p:cNvSpPr/>
          <p:nvPr/>
        </p:nvSpPr>
        <p:spPr>
          <a:xfrm>
            <a:off x="7818120" y="1645920"/>
            <a:ext cx="3703320" cy="1051560"/>
          </a:xfrm>
          <a:prstGeom prst="roundRect">
            <a:avLst>
              <a:gd name="adj" fmla="val 8000"/>
            </a:avLst>
          </a:prstGeom>
          <a:solidFill>
            <a:srgbClr val="F1F6FB"/>
          </a:solidFill>
          <a:ln w="12700">
            <a:solidFill>
              <a:srgbClr val="D2DEEB"/>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400" b="0" i="0">
                <a:solidFill>
                  <a:srgbClr val="1E2328"/>
                </a:solidFill>
                <a:latin typeface="Calibri"/>
              </a:rPr>
              <a:t>Run expo export before every EAS build to catch it in seconds.</a:t>
            </a:r>
          </a:p>
        </p:txBody>
      </p:sp>
      <p:sp>
        <p:nvSpPr>
          <p:cNvPr id="11" name="Rounded Rectangle 10"/>
          <p:cNvSpPr/>
          <p:nvPr/>
        </p:nvSpPr>
        <p:spPr>
          <a:xfrm>
            <a:off x="685800" y="2788920"/>
            <a:ext cx="2743200" cy="1051560"/>
          </a:xfrm>
          <a:prstGeom prst="roundRect">
            <a:avLst>
              <a:gd name="adj" fmla="val 8000"/>
            </a:avLst>
          </a:prstGeom>
          <a:solidFill>
            <a:srgbClr val="DCE9F6"/>
          </a:solidFill>
          <a:ln w="12700">
            <a:solidFill>
              <a:srgbClr val="D2DEEB"/>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600" b="1" i="0">
                <a:solidFill>
                  <a:srgbClr val="122A4C"/>
                </a:solidFill>
                <a:latin typeface="Calibri"/>
              </a:rPr>
              <a:t>Config not in bundle</a:t>
            </a:r>
          </a:p>
        </p:txBody>
      </p:sp>
      <p:sp>
        <p:nvSpPr>
          <p:cNvPr id="12" name="Rounded Rectangle 11"/>
          <p:cNvSpPr/>
          <p:nvPr/>
        </p:nvSpPr>
        <p:spPr>
          <a:xfrm>
            <a:off x="3520440" y="2788920"/>
            <a:ext cx="4206240" cy="1051560"/>
          </a:xfrm>
          <a:prstGeom prst="roundRect">
            <a:avLst>
              <a:gd name="adj" fmla="val 8000"/>
            </a:avLst>
          </a:prstGeom>
          <a:solidFill>
            <a:srgbClr val="F1F6FB"/>
          </a:solidFill>
          <a:ln w="12700">
            <a:solidFill>
              <a:srgbClr val="D2DEEB"/>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400" b="0" i="0">
                <a:solidFill>
                  <a:srgbClr val="1E2328"/>
                </a:solidFill>
                <a:latin typeface="Calibri"/>
              </a:rPr>
              <a:t>EAS environment variables never reached the app; two builds shipped broken.</a:t>
            </a:r>
          </a:p>
        </p:txBody>
      </p:sp>
      <p:sp>
        <p:nvSpPr>
          <p:cNvPr id="13" name="Rounded Rectangle 12"/>
          <p:cNvSpPr/>
          <p:nvPr/>
        </p:nvSpPr>
        <p:spPr>
          <a:xfrm>
            <a:off x="7818120" y="2788920"/>
            <a:ext cx="3703320" cy="1051560"/>
          </a:xfrm>
          <a:prstGeom prst="roundRect">
            <a:avLst>
              <a:gd name="adj" fmla="val 8000"/>
            </a:avLst>
          </a:prstGeom>
          <a:solidFill>
            <a:srgbClr val="F1F6FB"/>
          </a:solidFill>
          <a:ln w="12700">
            <a:solidFill>
              <a:srgbClr val="D2DEEB"/>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400" b="0" i="0">
                <a:solidFill>
                  <a:srgbClr val="1E2328"/>
                </a:solidFill>
                <a:latin typeface="Calibri"/>
              </a:rPr>
              <a:t>Moved Supabase config into app.config.ts extra.</a:t>
            </a:r>
          </a:p>
        </p:txBody>
      </p:sp>
      <p:sp>
        <p:nvSpPr>
          <p:cNvPr id="14" name="Rounded Rectangle 13"/>
          <p:cNvSpPr/>
          <p:nvPr/>
        </p:nvSpPr>
        <p:spPr>
          <a:xfrm>
            <a:off x="685800" y="3931920"/>
            <a:ext cx="2743200" cy="1051560"/>
          </a:xfrm>
          <a:prstGeom prst="roundRect">
            <a:avLst>
              <a:gd name="adj" fmla="val 8000"/>
            </a:avLst>
          </a:prstGeom>
          <a:solidFill>
            <a:srgbClr val="DCE9F6"/>
          </a:solidFill>
          <a:ln w="12700">
            <a:solidFill>
              <a:srgbClr val="D2DEEB"/>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600" b="1" i="0">
                <a:solidFill>
                  <a:srgbClr val="122A4C"/>
                </a:solidFill>
                <a:latin typeface="Calibri"/>
              </a:rPr>
              <a:t>Native build memory</a:t>
            </a:r>
          </a:p>
        </p:txBody>
      </p:sp>
      <p:sp>
        <p:nvSpPr>
          <p:cNvPr id="15" name="Rounded Rectangle 14"/>
          <p:cNvSpPr/>
          <p:nvPr/>
        </p:nvSpPr>
        <p:spPr>
          <a:xfrm>
            <a:off x="3520440" y="3931920"/>
            <a:ext cx="4206240" cy="1051560"/>
          </a:xfrm>
          <a:prstGeom prst="roundRect">
            <a:avLst>
              <a:gd name="adj" fmla="val 8000"/>
            </a:avLst>
          </a:prstGeom>
          <a:solidFill>
            <a:srgbClr val="F1F6FB"/>
          </a:solidFill>
          <a:ln w="12700">
            <a:solidFill>
              <a:srgbClr val="D2DEEB"/>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400" b="0" i="0">
                <a:solidFill>
                  <a:srgbClr val="1E2328"/>
                </a:solidFill>
                <a:latin typeface="Calibri"/>
              </a:rPr>
              <a:t>clang ran out of memory; gradle worker limit did not reach ninja.</a:t>
            </a:r>
          </a:p>
        </p:txBody>
      </p:sp>
      <p:sp>
        <p:nvSpPr>
          <p:cNvPr id="16" name="Rounded Rectangle 15"/>
          <p:cNvSpPr/>
          <p:nvPr/>
        </p:nvSpPr>
        <p:spPr>
          <a:xfrm>
            <a:off x="7818120" y="3931920"/>
            <a:ext cx="3703320" cy="1051560"/>
          </a:xfrm>
          <a:prstGeom prst="roundRect">
            <a:avLst>
              <a:gd name="adj" fmla="val 8000"/>
            </a:avLst>
          </a:prstGeom>
          <a:solidFill>
            <a:srgbClr val="F1F6FB"/>
          </a:solidFill>
          <a:ln w="12700">
            <a:solidFill>
              <a:srgbClr val="D2DEEB"/>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400" b="0" i="0">
                <a:solidFill>
                  <a:srgbClr val="1E2328"/>
                </a:solidFill>
                <a:latin typeface="Calibri"/>
              </a:rPr>
              <a:t>npm run apk sets CMAKE_BUILD_PARALLEL_LEVEL.</a:t>
            </a:r>
          </a:p>
        </p:txBody>
      </p:sp>
      <p:sp>
        <p:nvSpPr>
          <p:cNvPr id="17" name="Rounded Rectangle 16"/>
          <p:cNvSpPr/>
          <p:nvPr/>
        </p:nvSpPr>
        <p:spPr>
          <a:xfrm>
            <a:off x="685800" y="5074920"/>
            <a:ext cx="2743200" cy="1051560"/>
          </a:xfrm>
          <a:prstGeom prst="roundRect">
            <a:avLst>
              <a:gd name="adj" fmla="val 8000"/>
            </a:avLst>
          </a:prstGeom>
          <a:solidFill>
            <a:srgbClr val="DCE9F6"/>
          </a:solidFill>
          <a:ln w="12700">
            <a:solidFill>
              <a:srgbClr val="D2DEEB"/>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600" b="1" i="0">
                <a:solidFill>
                  <a:srgbClr val="122A4C"/>
                </a:solidFill>
                <a:latin typeface="Calibri"/>
              </a:rPr>
              <a:t>Public services</a:t>
            </a:r>
          </a:p>
        </p:txBody>
      </p:sp>
      <p:sp>
        <p:nvSpPr>
          <p:cNvPr id="18" name="Rounded Rectangle 17"/>
          <p:cNvSpPr/>
          <p:nvPr/>
        </p:nvSpPr>
        <p:spPr>
          <a:xfrm>
            <a:off x="3520440" y="5074920"/>
            <a:ext cx="4206240" cy="1051560"/>
          </a:xfrm>
          <a:prstGeom prst="roundRect">
            <a:avLst>
              <a:gd name="adj" fmla="val 8000"/>
            </a:avLst>
          </a:prstGeom>
          <a:solidFill>
            <a:srgbClr val="F1F6FB"/>
          </a:solidFill>
          <a:ln w="12700">
            <a:solidFill>
              <a:srgbClr val="D2DEEB"/>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400" b="0" i="0">
                <a:solidFill>
                  <a:srgbClr val="1E2328"/>
                </a:solidFill>
                <a:latin typeface="Calibri"/>
              </a:rPr>
              <a:t>OSRM and Nominatim have no availability guarantee; app not yet checked on a device.</a:t>
            </a:r>
          </a:p>
        </p:txBody>
      </p:sp>
      <p:sp>
        <p:nvSpPr>
          <p:cNvPr id="19" name="Rounded Rectangle 18"/>
          <p:cNvSpPr/>
          <p:nvPr/>
        </p:nvSpPr>
        <p:spPr>
          <a:xfrm>
            <a:off x="7818120" y="5074920"/>
            <a:ext cx="3703320" cy="1051560"/>
          </a:xfrm>
          <a:prstGeom prst="roundRect">
            <a:avLst>
              <a:gd name="adj" fmla="val 8000"/>
            </a:avLst>
          </a:prstGeom>
          <a:solidFill>
            <a:srgbClr val="F1F6FB"/>
          </a:solidFill>
          <a:ln w="12700">
            <a:solidFill>
              <a:srgbClr val="D2DEEB"/>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400" b="0" i="0">
                <a:solidFill>
                  <a:srgbClr val="1E2328"/>
                </a:solidFill>
                <a:latin typeface="Calibri"/>
              </a:rPr>
              <a:t>Self-hosting and field tests are planned.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46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74320"/>
            <a:ext cx="11000232" cy="640080"/>
          </a:xfrm>
          <a:prstGeom prst="rect">
            <a:avLst/>
          </a:prstGeom>
          <a:noFill/>
        </p:spPr>
        <p:txBody>
          <a:bodyPr wrap="square"/>
          <a:lstStyle/>
          <a:p>
            <a:pPr algn="ctr">
              <a:defRPr sz="2700" b="1">
                <a:solidFill>
                  <a:srgbClr val="122A4C"/>
                </a:solidFill>
                <a:latin typeface="Aptos Display"/>
              </a:defRPr>
            </a:pPr>
            <a:r>
              <a:rPr sz="3000" b="1" i="0">
                <a:solidFill>
                  <a:srgbClr val="122A4C"/>
                </a:solidFill>
                <a:latin typeface="Calibri"/>
              </a:rPr>
              <a:t>Future Work &amp; Timeline</a:t>
            </a:r>
          </a:p>
        </p:txBody>
      </p:sp>
      <p:sp>
        <p:nvSpPr>
          <p:cNvPr id="4" name="TextBox 3"/>
          <p:cNvSpPr txBox="1"/>
          <p:nvPr/>
        </p:nvSpPr>
        <p:spPr>
          <a:xfrm>
            <a:off x="11155680" y="6309360"/>
            <a:ext cx="457200" cy="274320"/>
          </a:xfrm>
          <a:prstGeom prst="rect">
            <a:avLst/>
          </a:prstGeom>
          <a:noFill/>
        </p:spPr>
        <p:txBody>
          <a:bodyPr wrap="none"/>
          <a:lstStyle/>
          <a:p>
            <a:pPr algn="r">
              <a:defRPr sz="1000">
                <a:solidFill>
                  <a:srgbClr val="697887"/>
                </a:solidFill>
                <a:latin typeface="Aptos"/>
              </a:defRPr>
            </a:pPr>
            <a:r>
              <a:rPr sz="1000" b="0" i="0">
                <a:solidFill>
                  <a:srgbClr val="697887"/>
                </a:solidFill>
                <a:latin typeface="Calibri"/>
              </a:rPr>
              <a:t>14</a:t>
            </a:r>
          </a:p>
        </p:txBody>
      </p:sp>
      <p:cxnSp>
        <p:nvCxnSpPr>
          <p:cNvPr id="5" name="Connector 4"/>
          <p:cNvCxnSpPr/>
          <p:nvPr/>
        </p:nvCxnSpPr>
        <p:spPr>
          <a:xfrm>
            <a:off x="1371600" y="2697480"/>
            <a:ext cx="9509760" cy="0"/>
          </a:xfrm>
          <a:prstGeom prst="line">
            <a:avLst/>
          </a:prstGeom>
          <a:ln w="38100">
            <a:solidFill>
              <a:srgbClr val="D2DEEB"/>
            </a:solidFill>
            <a:tailEnd type="triangle"/>
          </a:ln>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1737360" y="2423160"/>
            <a:ext cx="548640" cy="548640"/>
          </a:xfrm>
          <a:prstGeom prst="ellipse">
            <a:avLst/>
          </a:prstGeom>
          <a:solidFill>
            <a:srgbClr val="2463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FFFFFF"/>
                </a:solidFill>
                <a:latin typeface="Calibri"/>
              </a:rPr>
              <a:t>1</a:t>
            </a:r>
          </a:p>
        </p:txBody>
      </p:sp>
      <p:sp>
        <p:nvSpPr>
          <p:cNvPr id="7" name="Rounded Rectangle 6"/>
          <p:cNvSpPr/>
          <p:nvPr/>
        </p:nvSpPr>
        <p:spPr>
          <a:xfrm>
            <a:off x="685800" y="3291840"/>
            <a:ext cx="2606040" cy="2286000"/>
          </a:xfrm>
          <a:prstGeom prst="roundRect">
            <a:avLst>
              <a:gd name="adj" fmla="val 8000"/>
            </a:avLst>
          </a:prstGeom>
          <a:solidFill>
            <a:srgbClr val="F1F6FB"/>
          </a:solidFill>
          <a:ln w="12700">
            <a:solidFill>
              <a:srgbClr val="D2DEEB"/>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l">
              <a:spcAft>
                <a:spcPts val="600"/>
              </a:spcAft>
            </a:pPr>
            <a:r>
              <a:rPr sz="1900" b="1" i="0">
                <a:solidFill>
                  <a:srgbClr val="122A4C"/>
                </a:solidFill>
                <a:latin typeface="Calibri"/>
              </a:rPr>
              <a:t>Milestone 1</a:t>
            </a:r>
          </a:p>
          <a:p>
            <a:pPr algn="l"/>
            <a:r>
              <a:rPr sz="1700" b="0" i="0">
                <a:solidFill>
                  <a:srgbClr val="1E2328"/>
                </a:solidFill>
                <a:latin typeface="Calibri"/>
              </a:rPr>
              <a:t>Field testing of the mobile client on real devices</a:t>
            </a:r>
          </a:p>
        </p:txBody>
      </p:sp>
      <p:sp>
        <p:nvSpPr>
          <p:cNvPr id="8" name="Rounded Rectangle 7"/>
          <p:cNvSpPr/>
          <p:nvPr/>
        </p:nvSpPr>
        <p:spPr>
          <a:xfrm>
            <a:off x="1234440" y="1645920"/>
            <a:ext cx="1508760" cy="457200"/>
          </a:xfrm>
          <a:prstGeom prst="roundRect">
            <a:avLst>
              <a:gd name="adj" fmla="val 8000"/>
            </a:avLst>
          </a:prstGeom>
          <a:solidFill>
            <a:srgbClr val="2463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500" b="1" i="0">
                <a:solidFill>
                  <a:srgbClr val="FFFFFF"/>
                </a:solidFill>
                <a:latin typeface="Calibri"/>
              </a:rPr>
              <a:t>Oct 2026</a:t>
            </a:r>
          </a:p>
        </p:txBody>
      </p:sp>
      <p:sp>
        <p:nvSpPr>
          <p:cNvPr id="9" name="Oval 8"/>
          <p:cNvSpPr/>
          <p:nvPr/>
        </p:nvSpPr>
        <p:spPr>
          <a:xfrm>
            <a:off x="4526279" y="2423160"/>
            <a:ext cx="548640" cy="548640"/>
          </a:xfrm>
          <a:prstGeom prst="ellipse">
            <a:avLst/>
          </a:prstGeom>
          <a:solidFill>
            <a:srgbClr val="2463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FFFFFF"/>
                </a:solidFill>
                <a:latin typeface="Calibri"/>
              </a:rPr>
              <a:t>2</a:t>
            </a:r>
          </a:p>
        </p:txBody>
      </p:sp>
      <p:sp>
        <p:nvSpPr>
          <p:cNvPr id="10" name="Rounded Rectangle 9"/>
          <p:cNvSpPr/>
          <p:nvPr/>
        </p:nvSpPr>
        <p:spPr>
          <a:xfrm>
            <a:off x="3474720" y="3291840"/>
            <a:ext cx="2606040" cy="2286000"/>
          </a:xfrm>
          <a:prstGeom prst="roundRect">
            <a:avLst>
              <a:gd name="adj" fmla="val 8000"/>
            </a:avLst>
          </a:prstGeom>
          <a:solidFill>
            <a:srgbClr val="F1F6FB"/>
          </a:solidFill>
          <a:ln w="12700">
            <a:solidFill>
              <a:srgbClr val="D2DEEB"/>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l">
              <a:spcAft>
                <a:spcPts val="600"/>
              </a:spcAft>
            </a:pPr>
            <a:r>
              <a:rPr sz="1900" b="1" i="0">
                <a:solidFill>
                  <a:srgbClr val="122A4C"/>
                </a:solidFill>
                <a:latin typeface="Calibri"/>
              </a:rPr>
              <a:t>Milestone 2</a:t>
            </a:r>
          </a:p>
          <a:p>
            <a:pPr algn="l"/>
            <a:r>
              <a:rPr sz="1700" b="0" i="0">
                <a:solidFill>
                  <a:srgbClr val="1E2328"/>
                </a:solidFill>
                <a:latin typeface="Calibri"/>
              </a:rPr>
              <a:t>Self-hosted OSRM and Nominatim; emergency corridor checks</a:t>
            </a:r>
          </a:p>
        </p:txBody>
      </p:sp>
      <p:sp>
        <p:nvSpPr>
          <p:cNvPr id="11" name="Rounded Rectangle 10"/>
          <p:cNvSpPr/>
          <p:nvPr/>
        </p:nvSpPr>
        <p:spPr>
          <a:xfrm>
            <a:off x="4023359" y="1645920"/>
            <a:ext cx="1508760" cy="457200"/>
          </a:xfrm>
          <a:prstGeom prst="roundRect">
            <a:avLst>
              <a:gd name="adj" fmla="val 8000"/>
            </a:avLst>
          </a:prstGeom>
          <a:solidFill>
            <a:srgbClr val="2463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500" b="1" i="0">
                <a:solidFill>
                  <a:srgbClr val="FFFFFF"/>
                </a:solidFill>
                <a:latin typeface="Calibri"/>
              </a:rPr>
              <a:t>Nov 2026</a:t>
            </a:r>
          </a:p>
        </p:txBody>
      </p:sp>
      <p:sp>
        <p:nvSpPr>
          <p:cNvPr id="12" name="Oval 11"/>
          <p:cNvSpPr/>
          <p:nvPr/>
        </p:nvSpPr>
        <p:spPr>
          <a:xfrm>
            <a:off x="7315200" y="2423160"/>
            <a:ext cx="548640" cy="548640"/>
          </a:xfrm>
          <a:prstGeom prst="ellipse">
            <a:avLst/>
          </a:prstGeom>
          <a:solidFill>
            <a:srgbClr val="2463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FFFFFF"/>
                </a:solidFill>
                <a:latin typeface="Calibri"/>
              </a:rPr>
              <a:t>3</a:t>
            </a:r>
          </a:p>
        </p:txBody>
      </p:sp>
      <p:sp>
        <p:nvSpPr>
          <p:cNvPr id="13" name="Rounded Rectangle 12"/>
          <p:cNvSpPr/>
          <p:nvPr/>
        </p:nvSpPr>
        <p:spPr>
          <a:xfrm>
            <a:off x="6263640" y="3291840"/>
            <a:ext cx="2606040" cy="2286000"/>
          </a:xfrm>
          <a:prstGeom prst="roundRect">
            <a:avLst>
              <a:gd name="adj" fmla="val 8000"/>
            </a:avLst>
          </a:prstGeom>
          <a:solidFill>
            <a:srgbClr val="F1F6FB"/>
          </a:solidFill>
          <a:ln w="12700">
            <a:solidFill>
              <a:srgbClr val="D2DEEB"/>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l">
              <a:spcAft>
                <a:spcPts val="600"/>
              </a:spcAft>
            </a:pPr>
            <a:r>
              <a:rPr sz="1900" b="1" i="0">
                <a:solidFill>
                  <a:srgbClr val="122A4C"/>
                </a:solidFill>
                <a:latin typeface="Calibri"/>
              </a:rPr>
              <a:t>Testing / validation</a:t>
            </a:r>
          </a:p>
          <a:p>
            <a:pPr algn="l"/>
            <a:r>
              <a:rPr sz="1700" b="0" i="0">
                <a:solidFill>
                  <a:srgbClr val="1E2328"/>
                </a:solidFill>
                <a:latin typeface="Calibri"/>
              </a:rPr>
              <a:t>Multi-vehicle load test; latency and battery measurements</a:t>
            </a:r>
          </a:p>
        </p:txBody>
      </p:sp>
      <p:sp>
        <p:nvSpPr>
          <p:cNvPr id="14" name="Rounded Rectangle 13"/>
          <p:cNvSpPr/>
          <p:nvPr/>
        </p:nvSpPr>
        <p:spPr>
          <a:xfrm>
            <a:off x="6812279" y="1645920"/>
            <a:ext cx="1508760" cy="457200"/>
          </a:xfrm>
          <a:prstGeom prst="roundRect">
            <a:avLst>
              <a:gd name="adj" fmla="val 8000"/>
            </a:avLst>
          </a:prstGeom>
          <a:solidFill>
            <a:srgbClr val="2463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500" b="1" i="0">
                <a:solidFill>
                  <a:srgbClr val="FFFFFF"/>
                </a:solidFill>
                <a:latin typeface="Calibri"/>
              </a:rPr>
              <a:t>Nov 2026</a:t>
            </a:r>
          </a:p>
        </p:txBody>
      </p:sp>
      <p:sp>
        <p:nvSpPr>
          <p:cNvPr id="15" name="Oval 14"/>
          <p:cNvSpPr/>
          <p:nvPr/>
        </p:nvSpPr>
        <p:spPr>
          <a:xfrm>
            <a:off x="10104119" y="2423160"/>
            <a:ext cx="548640" cy="548640"/>
          </a:xfrm>
          <a:prstGeom prst="ellipse">
            <a:avLst/>
          </a:prstGeom>
          <a:solidFill>
            <a:srgbClr val="2463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FFFFFF"/>
                </a:solidFill>
                <a:latin typeface="Calibri"/>
              </a:rPr>
              <a:t>4</a:t>
            </a:r>
          </a:p>
        </p:txBody>
      </p:sp>
      <p:sp>
        <p:nvSpPr>
          <p:cNvPr id="16" name="Rounded Rectangle 15"/>
          <p:cNvSpPr/>
          <p:nvPr/>
        </p:nvSpPr>
        <p:spPr>
          <a:xfrm>
            <a:off x="9052559" y="3291840"/>
            <a:ext cx="2606040" cy="2286000"/>
          </a:xfrm>
          <a:prstGeom prst="roundRect">
            <a:avLst>
              <a:gd name="adj" fmla="val 8000"/>
            </a:avLst>
          </a:prstGeom>
          <a:solidFill>
            <a:srgbClr val="F1F6FB"/>
          </a:solidFill>
          <a:ln w="12700">
            <a:solidFill>
              <a:srgbClr val="D2DEEB"/>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l">
              <a:spcAft>
                <a:spcPts val="600"/>
              </a:spcAft>
            </a:pPr>
            <a:r>
              <a:rPr sz="1900" b="1" i="0">
                <a:solidFill>
                  <a:srgbClr val="122A4C"/>
                </a:solidFill>
                <a:latin typeface="Calibri"/>
              </a:rPr>
              <a:t>Final documentation / demo</a:t>
            </a:r>
          </a:p>
          <a:p>
            <a:pPr algn="l"/>
            <a:r>
              <a:rPr sz="1700" b="0" i="0">
                <a:solidFill>
                  <a:srgbClr val="1E2328"/>
                </a:solidFill>
                <a:latin typeface="Calibri"/>
              </a:rPr>
              <a:t>Report, presentation and live demo</a:t>
            </a:r>
          </a:p>
        </p:txBody>
      </p:sp>
      <p:sp>
        <p:nvSpPr>
          <p:cNvPr id="17" name="Rounded Rectangle 16"/>
          <p:cNvSpPr/>
          <p:nvPr/>
        </p:nvSpPr>
        <p:spPr>
          <a:xfrm>
            <a:off x="9601199" y="1645920"/>
            <a:ext cx="1508760" cy="457200"/>
          </a:xfrm>
          <a:prstGeom prst="roundRect">
            <a:avLst>
              <a:gd name="adj" fmla="val 8000"/>
            </a:avLst>
          </a:prstGeom>
          <a:solidFill>
            <a:srgbClr val="2463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500" b="1" i="0">
                <a:solidFill>
                  <a:srgbClr val="FFFFFF"/>
                </a:solidFill>
                <a:latin typeface="Calibri"/>
              </a:rPr>
              <a:t>Dec 2026</a:t>
            </a:r>
          </a:p>
        </p:txBody>
      </p:sp>
      <p:sp>
        <p:nvSpPr>
          <p:cNvPr id="18" name="TextBox 17"/>
          <p:cNvSpPr txBox="1"/>
          <p:nvPr/>
        </p:nvSpPr>
        <p:spPr>
          <a:xfrm>
            <a:off x="685800" y="5760720"/>
            <a:ext cx="10789920" cy="365760"/>
          </a:xfrm>
          <a:prstGeom prst="rect">
            <a:avLst/>
          </a:prstGeom>
          <a:noFill/>
        </p:spPr>
        <p:txBody>
          <a:bodyPr wrap="square" anchor="t" lIns="0" rIns="0" tIns="0" bIns="0">
            <a:spAutoFit/>
          </a:bodyPr>
          <a:lstStyle/>
          <a:p>
            <a:pPr algn="l"/>
            <a:r>
              <a:rPr sz="1300" b="0" i="1">
                <a:solidFill>
                  <a:srgbClr val="697887"/>
                </a:solidFill>
                <a:latin typeface="Calibri"/>
              </a:rPr>
              <a:t>Target dates are proposed and should be confirmed with the project guide.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46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74320"/>
            <a:ext cx="11000232" cy="640080"/>
          </a:xfrm>
          <a:prstGeom prst="rect">
            <a:avLst/>
          </a:prstGeom>
          <a:noFill/>
        </p:spPr>
        <p:txBody>
          <a:bodyPr wrap="square"/>
          <a:lstStyle/>
          <a:p>
            <a:pPr algn="ctr">
              <a:defRPr sz="2700" b="1">
                <a:solidFill>
                  <a:srgbClr val="122A4C"/>
                </a:solidFill>
                <a:latin typeface="Aptos Display"/>
              </a:defRPr>
            </a:pPr>
            <a:r>
              <a:rPr sz="3000" b="1" i="0">
                <a:solidFill>
                  <a:srgbClr val="122A4C"/>
                </a:solidFill>
                <a:latin typeface="Calibri"/>
              </a:rPr>
              <a:t>References &amp; Q&amp;A</a:t>
            </a:r>
          </a:p>
        </p:txBody>
      </p:sp>
      <p:sp>
        <p:nvSpPr>
          <p:cNvPr id="4" name="TextBox 3"/>
          <p:cNvSpPr txBox="1"/>
          <p:nvPr/>
        </p:nvSpPr>
        <p:spPr>
          <a:xfrm>
            <a:off x="11155680" y="6309360"/>
            <a:ext cx="457200" cy="274320"/>
          </a:xfrm>
          <a:prstGeom prst="rect">
            <a:avLst/>
          </a:prstGeom>
          <a:noFill/>
        </p:spPr>
        <p:txBody>
          <a:bodyPr wrap="none"/>
          <a:lstStyle/>
          <a:p>
            <a:pPr algn="r">
              <a:defRPr sz="1000">
                <a:solidFill>
                  <a:srgbClr val="697887"/>
                </a:solidFill>
                <a:latin typeface="Aptos"/>
              </a:defRPr>
            </a:pPr>
            <a:r>
              <a:rPr sz="1000" b="0" i="0">
                <a:solidFill>
                  <a:srgbClr val="697887"/>
                </a:solidFill>
                <a:latin typeface="Calibri"/>
              </a:rPr>
              <a:t>15</a:t>
            </a:r>
          </a:p>
        </p:txBody>
      </p:sp>
      <p:sp>
        <p:nvSpPr>
          <p:cNvPr id="5" name="TextBox 4"/>
          <p:cNvSpPr txBox="1"/>
          <p:nvPr/>
        </p:nvSpPr>
        <p:spPr>
          <a:xfrm>
            <a:off x="685800" y="1188720"/>
            <a:ext cx="7406640" cy="4846320"/>
          </a:xfrm>
          <a:prstGeom prst="rect">
            <a:avLst/>
          </a:prstGeom>
          <a:noFill/>
        </p:spPr>
        <p:txBody>
          <a:bodyPr wrap="square" anchor="t" lIns="0" rIns="0" tIns="0" bIns="0">
            <a:spAutoFit/>
          </a:bodyPr>
          <a:lstStyle/>
          <a:p>
            <a:pPr algn="l">
              <a:spcAft>
                <a:spcPts val="1200"/>
              </a:spcAft>
            </a:pPr>
            <a:r>
              <a:rPr sz="1600" b="0" i="0">
                <a:solidFill>
                  <a:srgbClr val="1E2328"/>
                </a:solidFill>
                <a:latin typeface="Calibri"/>
              </a:rPr>
              <a:t>[1] Supabase Documentation: Auth, Row Level Security, Realtime, Edge Functions. supabase.com/docs</a:t>
            </a:r>
          </a:p>
          <a:p>
            <a:pPr algn="l">
              <a:spcAft>
                <a:spcPts val="1200"/>
              </a:spcAft>
            </a:pPr>
            <a:r>
              <a:rPr sz="1600" b="0" i="0">
                <a:solidFill>
                  <a:srgbClr val="1E2328"/>
                </a:solidFill>
                <a:latin typeface="Calibri"/>
              </a:rPr>
              <a:t>[2] PostgreSQL Global Development Group, PostgreSQL Documentation: triggers, constraints. postgresql.org/docs</a:t>
            </a:r>
          </a:p>
          <a:p>
            <a:pPr algn="l">
              <a:spcAft>
                <a:spcPts val="1200"/>
              </a:spcAft>
            </a:pPr>
            <a:r>
              <a:rPr sz="1600" b="0" i="0">
                <a:solidFill>
                  <a:srgbClr val="1E2328"/>
                </a:solidFill>
                <a:latin typeface="Calibri"/>
              </a:rPr>
              <a:t>[3] Expo Documentation: expo-location, expo-router, EAS Build. docs.expo.dev</a:t>
            </a:r>
          </a:p>
          <a:p>
            <a:pPr algn="l">
              <a:spcAft>
                <a:spcPts val="1200"/>
              </a:spcAft>
            </a:pPr>
            <a:r>
              <a:rPr sz="1600" b="0" i="0">
                <a:solidFill>
                  <a:srgbClr val="1E2328"/>
                </a:solidFill>
                <a:latin typeface="Calibri"/>
              </a:rPr>
              <a:t>[4] D. Luxen and C. Vetter, "Real-time routing with OpenStreetMap data," Proc. 19th ACM SIGSPATIAL GIS, 2011, pp. 513–516.</a:t>
            </a:r>
          </a:p>
          <a:p>
            <a:pPr algn="l">
              <a:spcAft>
                <a:spcPts val="1200"/>
              </a:spcAft>
            </a:pPr>
            <a:r>
              <a:rPr sz="1600" b="0" i="0">
                <a:solidFill>
                  <a:srgbClr val="1E2328"/>
                </a:solidFill>
                <a:latin typeface="Calibri"/>
              </a:rPr>
              <a:t>[5] MapLibre GL JS Documentation. maplibre.org</a:t>
            </a:r>
          </a:p>
          <a:p>
            <a:pPr algn="l">
              <a:spcAft>
                <a:spcPts val="1200"/>
              </a:spcAft>
            </a:pPr>
            <a:r>
              <a:rPr sz="1600" b="0" i="0">
                <a:solidFill>
                  <a:srgbClr val="1E2328"/>
                </a:solidFill>
                <a:latin typeface="Calibri"/>
              </a:rPr>
              <a:t>[6] OpenStreetMap, OpenFreeMap and Nominatim project documentation. openstreetmap.org, openfreemap.org, nominatim.org</a:t>
            </a:r>
          </a:p>
          <a:p>
            <a:pPr algn="l">
              <a:spcAft>
                <a:spcPts val="1200"/>
              </a:spcAft>
            </a:pPr>
            <a:r>
              <a:rPr sz="1600" b="0" i="0">
                <a:solidFill>
                  <a:srgbClr val="1E2328"/>
                </a:solidFill>
                <a:latin typeface="Calibri"/>
              </a:rPr>
              <a:t>[7] Traccar Documentation. traccar.org</a:t>
            </a:r>
          </a:p>
        </p:txBody>
      </p:sp>
      <p:sp>
        <p:nvSpPr>
          <p:cNvPr id="6" name="Rounded Rectangle 5"/>
          <p:cNvSpPr/>
          <p:nvPr/>
        </p:nvSpPr>
        <p:spPr>
          <a:xfrm>
            <a:off x="8366760" y="1188720"/>
            <a:ext cx="3154680" cy="4754880"/>
          </a:xfrm>
          <a:prstGeom prst="roundRect">
            <a:avLst>
              <a:gd name="adj" fmla="val 8000"/>
            </a:avLst>
          </a:prstGeom>
          <a:solidFill>
            <a:srgbClr val="122A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1000"/>
              </a:spcAft>
            </a:pPr>
            <a:r>
              <a:rPr sz="3200" b="1" i="0">
                <a:solidFill>
                  <a:srgbClr val="FFFFFF"/>
                </a:solidFill>
                <a:latin typeface="Calibri"/>
              </a:rPr>
              <a:t>Thank You</a:t>
            </a:r>
          </a:p>
          <a:p>
            <a:pPr algn="ctr"/>
            <a:r>
              <a:rPr sz="2000" b="0" i="0">
                <a:solidFill>
                  <a:srgbClr val="DCE9F6"/>
                </a:solidFill>
                <a:latin typeface="Calibri"/>
              </a:rPr>
              <a:t>Questions &amp; Discussion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TotalTime>
  <Words>779</Words>
  <Application>Microsoft Office PowerPoint</Application>
  <PresentationFormat>Widescreen</PresentationFormat>
  <Paragraphs>117</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Microsoft account</cp:lastModifiedBy>
  <cp:revision>3</cp:revision>
  <dcterms:created xsi:type="dcterms:W3CDTF">2013-01-27T09:14:16Z</dcterms:created>
  <dcterms:modified xsi:type="dcterms:W3CDTF">2026-09-17T07:50:51Z</dcterms:modified>
  <cp:category/>
</cp:coreProperties>
</file>